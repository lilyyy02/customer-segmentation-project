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Helios Extended Bold" charset="1" panose="02000805050000020004"/>
      <p:regular r:id="rId24"/>
    </p:embeddedFont>
    <p:embeddedFont>
      <p:font typeface="Heebo Bold" charset="1" panose="00000800000000000000"/>
      <p:regular r:id="rId25"/>
    </p:embeddedFont>
    <p:embeddedFont>
      <p:font typeface="Lato" charset="1" panose="020F0502020204030203"/>
      <p:regular r:id="rId26"/>
    </p:embeddedFont>
    <p:embeddedFont>
      <p:font typeface="Calibri (MS) Bold" charset="1" panose="020F0702030404030204"/>
      <p:regular r:id="rId30"/>
    </p:embeddedFont>
    <p:embeddedFont>
      <p:font typeface="Georgia Bold" charset="1" panose="02040802050405020203"/>
      <p:regular r:id="rId31"/>
    </p:embeddedFont>
    <p:embeddedFont>
      <p:font typeface="Calibri (MS)" charset="1" panose="020F0502020204030204"/>
      <p:regular r:id="rId32"/>
    </p:embeddedFont>
    <p:embeddedFont>
      <p:font typeface="Calibri (MS) Italics" charset="1" panose="020F05020202040A0204"/>
      <p:regular r:id="rId33"/>
    </p:embeddedFont>
    <p:embeddedFont>
      <p:font typeface="Georgia Bold Italics" charset="1" panose="02040802050405090203"/>
      <p:regular r:id="rId35"/>
    </p:embeddedFont>
    <p:embeddedFont>
      <p:font typeface="Calibri (MS) Bold Italics" charset="1" panose="020F07020304040A0204"/>
      <p:regular r:id="rId37"/>
    </p:embeddedFont>
    <p:embeddedFont>
      <p:font typeface="Lato Bold" charset="1" panose="020F05020202040302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2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4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PAM clustering produced three clearly distinct segments.</a:t>
            </a:r>
          </a:p>
          <a:p>
            <a:r>
              <a:rPr lang="en-US"/>
              <a:t/>
            </a:r>
          </a:p>
          <a:p>
            <a:r>
              <a:rPr lang="en-US"/>
              <a:t>Segment 1, High-Value, is the biggest — 61% of the base. They buy recently, frequently, and with the highest spending. Churn is just 7.9%. This is the program's core active base.</a:t>
            </a:r>
          </a:p>
          <a:p>
            <a:r>
              <a:rPr lang="en-US"/>
              <a:t/>
            </a:r>
          </a:p>
          <a:p>
            <a:r>
              <a:rPr lang="en-US"/>
              <a:t>Segment 2, At-Risk, is 25%. Activity is clearly lower, many haven't purchased in months, and 38% are churning. This is the group where retention work can make the biggest difference.</a:t>
            </a:r>
          </a:p>
          <a:p>
            <a:r>
              <a:rPr lang="en-US"/>
              <a:t/>
            </a:r>
          </a:p>
          <a:p>
            <a:r>
              <a:rPr lang="en-US"/>
              <a:t>Segment 3, Dormant, is 14%. Long inactivity, minimal spending, and 71% churn. Most are effectively gone.</a:t>
            </a:r>
          </a:p>
          <a:p>
            <a:r>
              <a:rPr lang="en-US"/>
              <a:t/>
            </a:r>
          </a:p>
          <a:p>
            <a:r>
              <a:rPr lang="en-US"/>
              <a:t>The bottom strip shows the most important pattern: segment-level churn rises from 8% to 38% to 71% — essentially five-fold at each step. So our 2018 behavioural segmentation already predicts 2019 retention very strongly. This is our external validation that the segments are managerially meaningful — not just statistically different.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9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ydneyacademics.com/index.php/ajmlra/article/view/121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44074" y="431806"/>
            <a:ext cx="21203374" cy="8528761"/>
          </a:xfrm>
          <a:custGeom>
            <a:avLst/>
            <a:gdLst/>
            <a:ahLst/>
            <a:cxnLst/>
            <a:rect r="r" b="b" t="t" l="l"/>
            <a:pathLst>
              <a:path h="8528761" w="21203374">
                <a:moveTo>
                  <a:pt x="0" y="0"/>
                </a:moveTo>
                <a:lnTo>
                  <a:pt x="21203374" y="0"/>
                </a:lnTo>
                <a:lnTo>
                  <a:pt x="21203374" y="8528762"/>
                </a:lnTo>
                <a:lnTo>
                  <a:pt x="0" y="8528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995248"/>
            <a:ext cx="248488" cy="263052"/>
          </a:xfrm>
          <a:custGeom>
            <a:avLst/>
            <a:gdLst/>
            <a:ahLst/>
            <a:cxnLst/>
            <a:rect r="r" b="b" t="t" l="l"/>
            <a:pathLst>
              <a:path h="263052" w="248488">
                <a:moveTo>
                  <a:pt x="0" y="0"/>
                </a:moveTo>
                <a:lnTo>
                  <a:pt x="248488" y="0"/>
                </a:lnTo>
                <a:lnTo>
                  <a:pt x="248488" y="263052"/>
                </a:lnTo>
                <a:lnTo>
                  <a:pt x="0" y="26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10812" y="1014136"/>
            <a:ext cx="248488" cy="263052"/>
          </a:xfrm>
          <a:custGeom>
            <a:avLst/>
            <a:gdLst/>
            <a:ahLst/>
            <a:cxnLst/>
            <a:rect r="r" b="b" t="t" l="l"/>
            <a:pathLst>
              <a:path h="263052" w="248488">
                <a:moveTo>
                  <a:pt x="0" y="0"/>
                </a:moveTo>
                <a:lnTo>
                  <a:pt x="248488" y="0"/>
                </a:lnTo>
                <a:lnTo>
                  <a:pt x="248488" y="263052"/>
                </a:lnTo>
                <a:lnTo>
                  <a:pt x="0" y="26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77081" y="2550166"/>
            <a:ext cx="533848" cy="589369"/>
          </a:xfrm>
          <a:custGeom>
            <a:avLst/>
            <a:gdLst/>
            <a:ahLst/>
            <a:cxnLst/>
            <a:rect r="r" b="b" t="t" l="l"/>
            <a:pathLst>
              <a:path h="589369" w="533848">
                <a:moveTo>
                  <a:pt x="0" y="0"/>
                </a:moveTo>
                <a:lnTo>
                  <a:pt x="533848" y="0"/>
                </a:lnTo>
                <a:lnTo>
                  <a:pt x="533848" y="589369"/>
                </a:lnTo>
                <a:lnTo>
                  <a:pt x="0" y="589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47" t="0" r="-74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2944" y="3403587"/>
            <a:ext cx="16240935" cy="137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</a:pPr>
            <a:r>
              <a:rPr lang="en-US" b="true" sz="3882" spc="19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FGP Loyalty Program: Customer Analytics for Retention and Value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4573" y="6726778"/>
            <a:ext cx="15900483" cy="180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b="true" sz="2056" spc="205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LILY LEI Z5620411</a:t>
            </a:r>
          </a:p>
          <a:p>
            <a:pPr algn="ctr">
              <a:lnSpc>
                <a:spcPts val="2878"/>
              </a:lnSpc>
            </a:pPr>
            <a:r>
              <a:rPr lang="en-US" b="true" sz="2056" spc="205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SONGYUN ZHANG Z5620255</a:t>
            </a:r>
          </a:p>
          <a:p>
            <a:pPr algn="ctr">
              <a:lnSpc>
                <a:spcPts val="2878"/>
              </a:lnSpc>
            </a:pPr>
            <a:r>
              <a:rPr lang="en-US" b="true" sz="2056" spc="205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ZHE YANG Z5459640</a:t>
            </a:r>
          </a:p>
          <a:p>
            <a:pPr algn="ctr">
              <a:lnSpc>
                <a:spcPts val="2878"/>
              </a:lnSpc>
            </a:pPr>
            <a:r>
              <a:rPr lang="en-US" b="true" sz="2056" spc="205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YINGYING ZHANG Z5521377</a:t>
            </a:r>
          </a:p>
          <a:p>
            <a:pPr algn="ctr">
              <a:lnSpc>
                <a:spcPts val="2878"/>
              </a:lnSpc>
            </a:pPr>
            <a:r>
              <a:rPr lang="en-US" b="true" sz="2056" spc="205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ZICHENG ZHAO Z5706210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888" y="8668933"/>
            <a:ext cx="533846" cy="589367"/>
          </a:xfrm>
          <a:custGeom>
            <a:avLst/>
            <a:gdLst/>
            <a:ahLst/>
            <a:cxnLst/>
            <a:rect r="r" b="b" t="t" l="l"/>
            <a:pathLst>
              <a:path h="589367" w="533846">
                <a:moveTo>
                  <a:pt x="0" y="0"/>
                </a:moveTo>
                <a:lnTo>
                  <a:pt x="533846" y="0"/>
                </a:lnTo>
                <a:lnTo>
                  <a:pt x="533846" y="589367"/>
                </a:lnTo>
                <a:lnTo>
                  <a:pt x="0" y="58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882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001007" y="0"/>
            <a:ext cx="10286993" cy="10287000"/>
            <a:chOff x="0" y="0"/>
            <a:chExt cx="270933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1">
                  <a:moveTo>
                    <a:pt x="0" y="0"/>
                  </a:moveTo>
                  <a:lnTo>
                    <a:pt x="2709331" y="0"/>
                  </a:lnTo>
                  <a:lnTo>
                    <a:pt x="270933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0933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9001" y="4221984"/>
            <a:ext cx="810876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17761" y="1057695"/>
            <a:ext cx="8693050" cy="837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Managerial Problem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Customers differ significantly in value, engagement and churn risk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Limited retention resources make uniform strategies inefficient</a:t>
            </a:r>
          </a:p>
          <a:p>
            <a:pPr algn="l">
              <a:lnSpc>
                <a:spcPts val="3679"/>
              </a:lnSpc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Research Objectives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Identify customer segments using behavioural data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Examine drivers of customer value and loyalty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CLV and churn analysis to guide retention priorities</a:t>
            </a:r>
          </a:p>
          <a:p>
            <a:pPr algn="l">
              <a:lnSpc>
                <a:spcPts val="3679"/>
              </a:lnSpc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Analytical Approach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RFM-based segmentation (PAM clustering)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Regression analysis</a:t>
            </a:r>
          </a:p>
          <a:p>
            <a:pPr algn="l" marL="496569" indent="-248284" lvl="1">
              <a:lnSpc>
                <a:spcPts val="3679"/>
              </a:lnSpc>
              <a:buFont typeface="Arial"/>
              <a:buChar char="•"/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CLV and churn prediction analysis</a:t>
            </a:r>
          </a:p>
          <a:p>
            <a:pPr algn="l">
              <a:lnSpc>
                <a:spcPts val="3679"/>
              </a:lnSpc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Purpose</a:t>
            </a:r>
          </a:p>
          <a:p>
            <a:pPr algn="l" marL="0" indent="0" lvl="0">
              <a:lnSpc>
                <a:spcPts val="3679"/>
              </a:lnSpc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Support targeted, efficient and financially justified customer retention strategies.</a:t>
            </a:r>
          </a:p>
          <a:p>
            <a:pPr algn="l" marL="0" indent="0" lvl="0">
              <a:lnSpc>
                <a:spcPts val="367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600">
                  <a:solidFill>
                    <a:srgbClr val="3926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RQ1  · ANALYTICAL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850392"/>
            <a:ext cx="16870680" cy="960120"/>
            <a:chOff x="0" y="0"/>
            <a:chExt cx="224942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79" r="0" b="-2923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4942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Customer Segments Exist?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883283"/>
            <a:ext cx="636270" cy="101346"/>
            <a:chOff x="0" y="0"/>
            <a:chExt cx="84836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822960" cy="109728"/>
            </a:xfrm>
            <a:custGeom>
              <a:avLst/>
              <a:gdLst/>
              <a:ahLst/>
              <a:cxnLst/>
              <a:rect r="r" b="b" t="t" l="l"/>
              <a:pathLst>
                <a:path h="109728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AA68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360" cy="135128"/>
            </a:xfrm>
            <a:custGeom>
              <a:avLst/>
              <a:gdLst/>
              <a:ahLst/>
              <a:cxnLst/>
              <a:rect r="r" b="b" t="t" l="l"/>
              <a:pathLst>
                <a:path h="135128" w="84836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2428"/>
                  </a:lnTo>
                  <a:cubicBezTo>
                    <a:pt x="848360" y="129413"/>
                    <a:pt x="842645" y="135128"/>
                    <a:pt x="83566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835660" y="109728"/>
                  </a:lnTo>
                  <a:lnTo>
                    <a:pt x="835660" y="122428"/>
                  </a:lnTo>
                  <a:lnTo>
                    <a:pt x="822960" y="122428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AA68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6275" y="2322195"/>
            <a:ext cx="16889730" cy="1253490"/>
            <a:chOff x="0" y="0"/>
            <a:chExt cx="22519640" cy="1671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22494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19639" cy="1671320"/>
            </a:xfrm>
            <a:custGeom>
              <a:avLst/>
              <a:gdLst/>
              <a:ahLst/>
              <a:cxnLst/>
              <a:rect r="r" b="b" t="t" l="l"/>
              <a:pathLst>
                <a:path h="1671320" w="22519639">
                  <a:moveTo>
                    <a:pt x="12700" y="0"/>
                  </a:moveTo>
                  <a:lnTo>
                    <a:pt x="22506939" y="0"/>
                  </a:lnTo>
                  <a:cubicBezTo>
                    <a:pt x="22513925" y="0"/>
                    <a:pt x="22519639" y="5715"/>
                    <a:pt x="22519639" y="12700"/>
                  </a:cubicBezTo>
                  <a:lnTo>
                    <a:pt x="22519639" y="1658620"/>
                  </a:lnTo>
                  <a:cubicBezTo>
                    <a:pt x="22519639" y="1665605"/>
                    <a:pt x="22513925" y="1671320"/>
                    <a:pt x="225069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2506939" y="1645920"/>
                  </a:lnTo>
                  <a:lnTo>
                    <a:pt x="22506939" y="1658620"/>
                  </a:lnTo>
                  <a:lnTo>
                    <a:pt x="22494239" y="1658620"/>
                  </a:lnTo>
                  <a:lnTo>
                    <a:pt x="22494239" y="12700"/>
                  </a:lnTo>
                  <a:lnTo>
                    <a:pt x="22506939" y="12700"/>
                  </a:lnTo>
                  <a:lnTo>
                    <a:pt x="225069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6275" y="2322195"/>
            <a:ext cx="128778" cy="1253490"/>
            <a:chOff x="0" y="0"/>
            <a:chExt cx="171704" cy="1671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4630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CAA68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704" cy="1671320"/>
            </a:xfrm>
            <a:custGeom>
              <a:avLst/>
              <a:gdLst/>
              <a:ahLst/>
              <a:cxnLst/>
              <a:rect r="r" b="b" t="t" l="l"/>
              <a:pathLst>
                <a:path h="16713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1658620"/>
                  </a:lnTo>
                  <a:cubicBezTo>
                    <a:pt x="171704" y="1665605"/>
                    <a:pt x="165989" y="1671320"/>
                    <a:pt x="159004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159004" y="1645920"/>
                  </a:lnTo>
                  <a:lnTo>
                    <a:pt x="159004" y="1658620"/>
                  </a:lnTo>
                  <a:lnTo>
                    <a:pt x="146304" y="16586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AA68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2441448"/>
            <a:ext cx="4114800" cy="411480"/>
            <a:chOff x="0" y="0"/>
            <a:chExt cx="5486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50">
                  <a:solidFill>
                    <a:srgbClr val="3926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MANAGERIAL PROBLEM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2811780"/>
            <a:ext cx="16184880" cy="754380"/>
            <a:chOff x="0" y="0"/>
            <a:chExt cx="21579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798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42" r="0" b="-36804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579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7661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can FGP identify distinct customer groups to improve retention and maximise value? </a:t>
              </a:r>
              <a:r>
                <a:rPr lang="en-US" sz="187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RQ1 is the foundation — without clear segments, downstream profiling and value estimation have nothing to build 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5800" y="3909060"/>
            <a:ext cx="8641080" cy="548640"/>
            <a:chOff x="0" y="0"/>
            <a:chExt cx="115214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2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521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approach — three deliberate choices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44855" y="4791075"/>
            <a:ext cx="403098" cy="403098"/>
            <a:chOff x="0" y="0"/>
            <a:chExt cx="537464" cy="5374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B38B6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268732" y="12700"/>
                  </a:lnTo>
                  <a:lnTo>
                    <a:pt x="268732" y="0"/>
                  </a:lnTo>
                  <a:cubicBezTo>
                    <a:pt x="417195" y="0"/>
                    <a:pt x="537464" y="120269"/>
                    <a:pt x="537464" y="268732"/>
                  </a:cubicBezTo>
                  <a:lnTo>
                    <a:pt x="524764" y="268732"/>
                  </a:lnTo>
                  <a:lnTo>
                    <a:pt x="537464" y="268732"/>
                  </a:lnTo>
                  <a:cubicBezTo>
                    <a:pt x="537464" y="417195"/>
                    <a:pt x="417195" y="537464"/>
                    <a:pt x="268732" y="537464"/>
                  </a:cubicBezTo>
                  <a:lnTo>
                    <a:pt x="268732" y="524764"/>
                  </a:ln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lnTo>
                    <a:pt x="12700" y="268732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0" y="268732"/>
                  </a:lnTo>
                  <a:moveTo>
                    <a:pt x="25400" y="268732"/>
                  </a:moveTo>
                  <a:cubicBezTo>
                    <a:pt x="25400" y="275717"/>
                    <a:pt x="19685" y="281432"/>
                    <a:pt x="12700" y="281432"/>
                  </a:cubicBezTo>
                  <a:cubicBezTo>
                    <a:pt x="5715" y="281432"/>
                    <a:pt x="0" y="275717"/>
                    <a:pt x="0" y="268732"/>
                  </a:cubicBezTo>
                  <a:cubicBezTo>
                    <a:pt x="0" y="261747"/>
                    <a:pt x="5715" y="256032"/>
                    <a:pt x="12700" y="256032"/>
                  </a:cubicBezTo>
                  <a:cubicBezTo>
                    <a:pt x="19685" y="256032"/>
                    <a:pt x="25400" y="261747"/>
                    <a:pt x="25400" y="268732"/>
                  </a:cubicBezTo>
                  <a:cubicBezTo>
                    <a:pt x="25400" y="403098"/>
                    <a:pt x="134366" y="512064"/>
                    <a:pt x="268732" y="512064"/>
                  </a:cubicBezTo>
                  <a:cubicBezTo>
                    <a:pt x="403098" y="512064"/>
                    <a:pt x="512064" y="403098"/>
                    <a:pt x="512064" y="268732"/>
                  </a:cubicBezTo>
                  <a:cubicBezTo>
                    <a:pt x="512064" y="134366"/>
                    <a:pt x="403098" y="25400"/>
                    <a:pt x="268732" y="25400"/>
                  </a:cubicBezTo>
                  <a:lnTo>
                    <a:pt x="268732" y="12700"/>
                  </a:lnTo>
                  <a:lnTo>
                    <a:pt x="268732" y="25400"/>
                  </a:lnTo>
                  <a:cubicBezTo>
                    <a:pt x="134366" y="25400"/>
                    <a:pt x="25400" y="134366"/>
                    <a:pt x="25400" y="268732"/>
                  </a:cubicBezTo>
                  <a:close/>
                </a:path>
              </a:pathLst>
            </a:custGeom>
            <a:solidFill>
              <a:srgbClr val="B38B6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54380" y="4808982"/>
            <a:ext cx="384048" cy="384048"/>
            <a:chOff x="0" y="0"/>
            <a:chExt cx="512064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3020" y="4663440"/>
            <a:ext cx="7818120" cy="480060"/>
            <a:chOff x="0" y="0"/>
            <a:chExt cx="1042416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24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327" r="0" b="-26732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4241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RFM variables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03020" y="5143500"/>
            <a:ext cx="7818120" cy="960120"/>
            <a:chOff x="0" y="0"/>
            <a:chExt cx="10424160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24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241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Recency, Frequency, Monetary from 2018 transactions — practical behavioural indicators of customer value.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4855" y="6231255"/>
            <a:ext cx="403098" cy="403098"/>
            <a:chOff x="0" y="0"/>
            <a:chExt cx="537464" cy="5374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B38B6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268732" y="12700"/>
                  </a:lnTo>
                  <a:lnTo>
                    <a:pt x="268732" y="0"/>
                  </a:lnTo>
                  <a:cubicBezTo>
                    <a:pt x="417195" y="0"/>
                    <a:pt x="537464" y="120269"/>
                    <a:pt x="537464" y="268732"/>
                  </a:cubicBezTo>
                  <a:lnTo>
                    <a:pt x="524764" y="268732"/>
                  </a:lnTo>
                  <a:lnTo>
                    <a:pt x="537464" y="268732"/>
                  </a:lnTo>
                  <a:cubicBezTo>
                    <a:pt x="537464" y="417195"/>
                    <a:pt x="417195" y="537464"/>
                    <a:pt x="268732" y="537464"/>
                  </a:cubicBezTo>
                  <a:lnTo>
                    <a:pt x="268732" y="524764"/>
                  </a:ln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lnTo>
                    <a:pt x="12700" y="268732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0" y="268732"/>
                  </a:lnTo>
                  <a:moveTo>
                    <a:pt x="25400" y="268732"/>
                  </a:moveTo>
                  <a:cubicBezTo>
                    <a:pt x="25400" y="275717"/>
                    <a:pt x="19685" y="281432"/>
                    <a:pt x="12700" y="281432"/>
                  </a:cubicBezTo>
                  <a:cubicBezTo>
                    <a:pt x="5715" y="281432"/>
                    <a:pt x="0" y="275717"/>
                    <a:pt x="0" y="268732"/>
                  </a:cubicBezTo>
                  <a:cubicBezTo>
                    <a:pt x="0" y="261747"/>
                    <a:pt x="5715" y="256032"/>
                    <a:pt x="12700" y="256032"/>
                  </a:cubicBezTo>
                  <a:cubicBezTo>
                    <a:pt x="19685" y="256032"/>
                    <a:pt x="25400" y="261747"/>
                    <a:pt x="25400" y="268732"/>
                  </a:cubicBezTo>
                  <a:cubicBezTo>
                    <a:pt x="25400" y="403098"/>
                    <a:pt x="134366" y="512064"/>
                    <a:pt x="268732" y="512064"/>
                  </a:cubicBezTo>
                  <a:cubicBezTo>
                    <a:pt x="403098" y="512064"/>
                    <a:pt x="512064" y="403098"/>
                    <a:pt x="512064" y="268732"/>
                  </a:cubicBezTo>
                  <a:cubicBezTo>
                    <a:pt x="512064" y="134366"/>
                    <a:pt x="403098" y="25400"/>
                    <a:pt x="268732" y="25400"/>
                  </a:cubicBezTo>
                  <a:lnTo>
                    <a:pt x="268732" y="12700"/>
                  </a:lnTo>
                  <a:lnTo>
                    <a:pt x="268732" y="25400"/>
                  </a:lnTo>
                  <a:cubicBezTo>
                    <a:pt x="134366" y="25400"/>
                    <a:pt x="25400" y="134366"/>
                    <a:pt x="25400" y="268732"/>
                  </a:cubicBezTo>
                  <a:close/>
                </a:path>
              </a:pathLst>
            </a:custGeom>
            <a:solidFill>
              <a:srgbClr val="B38B6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54380" y="6240780"/>
            <a:ext cx="384048" cy="384048"/>
            <a:chOff x="0" y="0"/>
            <a:chExt cx="512064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03020" y="6103620"/>
            <a:ext cx="7818120" cy="480060"/>
            <a:chOff x="0" y="0"/>
            <a:chExt cx="104241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24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327" r="0" b="-2673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4241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2018 only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03020" y="6583680"/>
            <a:ext cx="7818120" cy="960120"/>
            <a:chOff x="0" y="0"/>
            <a:chExt cx="1042416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24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4241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temporal separation — RFM from 2018, churn observed in 2019, so no information leakage.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44855" y="7671435"/>
            <a:ext cx="403098" cy="403098"/>
            <a:chOff x="0" y="0"/>
            <a:chExt cx="537464" cy="5374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B38B6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268732" y="12700"/>
                  </a:lnTo>
                  <a:lnTo>
                    <a:pt x="268732" y="0"/>
                  </a:lnTo>
                  <a:cubicBezTo>
                    <a:pt x="417195" y="0"/>
                    <a:pt x="537464" y="120269"/>
                    <a:pt x="537464" y="268732"/>
                  </a:cubicBezTo>
                  <a:lnTo>
                    <a:pt x="524764" y="268732"/>
                  </a:lnTo>
                  <a:lnTo>
                    <a:pt x="537464" y="268732"/>
                  </a:lnTo>
                  <a:cubicBezTo>
                    <a:pt x="537464" y="417195"/>
                    <a:pt x="417195" y="537464"/>
                    <a:pt x="268732" y="537464"/>
                  </a:cubicBezTo>
                  <a:lnTo>
                    <a:pt x="268732" y="524764"/>
                  </a:ln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lnTo>
                    <a:pt x="12700" y="268732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0" y="268732"/>
                  </a:lnTo>
                  <a:moveTo>
                    <a:pt x="25400" y="268732"/>
                  </a:moveTo>
                  <a:cubicBezTo>
                    <a:pt x="25400" y="275717"/>
                    <a:pt x="19685" y="281432"/>
                    <a:pt x="12700" y="281432"/>
                  </a:cubicBezTo>
                  <a:cubicBezTo>
                    <a:pt x="5715" y="281432"/>
                    <a:pt x="0" y="275717"/>
                    <a:pt x="0" y="268732"/>
                  </a:cubicBezTo>
                  <a:cubicBezTo>
                    <a:pt x="0" y="261747"/>
                    <a:pt x="5715" y="256032"/>
                    <a:pt x="12700" y="256032"/>
                  </a:cubicBezTo>
                  <a:cubicBezTo>
                    <a:pt x="19685" y="256032"/>
                    <a:pt x="25400" y="261747"/>
                    <a:pt x="25400" y="268732"/>
                  </a:cubicBezTo>
                  <a:cubicBezTo>
                    <a:pt x="25400" y="403098"/>
                    <a:pt x="134366" y="512064"/>
                    <a:pt x="268732" y="512064"/>
                  </a:cubicBezTo>
                  <a:cubicBezTo>
                    <a:pt x="403098" y="512064"/>
                    <a:pt x="512064" y="403098"/>
                    <a:pt x="512064" y="268732"/>
                  </a:cubicBezTo>
                  <a:cubicBezTo>
                    <a:pt x="512064" y="134366"/>
                    <a:pt x="403098" y="25400"/>
                    <a:pt x="268732" y="25400"/>
                  </a:cubicBezTo>
                  <a:lnTo>
                    <a:pt x="268732" y="12700"/>
                  </a:lnTo>
                  <a:lnTo>
                    <a:pt x="268732" y="25400"/>
                  </a:lnTo>
                  <a:cubicBezTo>
                    <a:pt x="134366" y="25400"/>
                    <a:pt x="25400" y="134366"/>
                    <a:pt x="25400" y="268732"/>
                  </a:cubicBezTo>
                  <a:close/>
                </a:path>
              </a:pathLst>
            </a:custGeom>
            <a:solidFill>
              <a:srgbClr val="B38B6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54380" y="7680960"/>
            <a:ext cx="384048" cy="384048"/>
            <a:chOff x="0" y="0"/>
            <a:chExt cx="512064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03020" y="7543800"/>
            <a:ext cx="7818120" cy="480060"/>
            <a:chOff x="0" y="0"/>
            <a:chExt cx="1042416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24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327" r="0" b="-2673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04241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PAM clustering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3020" y="8023860"/>
            <a:ext cx="7818120" cy="960120"/>
            <a:chOff x="0" y="0"/>
            <a:chExt cx="10424160" cy="1280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24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4241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 alternative to K-means — less sensitive to instability from heavy-spender outliers.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91675" y="3899535"/>
            <a:ext cx="8042910" cy="5667375"/>
            <a:chOff x="0" y="0"/>
            <a:chExt cx="10723880" cy="75565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2700" y="13074"/>
              <a:ext cx="10698480" cy="7530353"/>
            </a:xfrm>
            <a:custGeom>
              <a:avLst/>
              <a:gdLst/>
              <a:ahLst/>
              <a:cxnLst/>
              <a:rect r="r" b="b" t="t" l="l"/>
              <a:pathLst>
                <a:path h="7530353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7530352"/>
                  </a:lnTo>
                  <a:lnTo>
                    <a:pt x="0" y="7530352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23880" cy="7556500"/>
            </a:xfrm>
            <a:custGeom>
              <a:avLst/>
              <a:gdLst/>
              <a:ahLst/>
              <a:cxnLst/>
              <a:rect r="r" b="b" t="t" l="l"/>
              <a:pathLst>
                <a:path h="7556500" w="10723880">
                  <a:moveTo>
                    <a:pt x="12700" y="0"/>
                  </a:moveTo>
                  <a:lnTo>
                    <a:pt x="10711180" y="0"/>
                  </a:lnTo>
                  <a:cubicBezTo>
                    <a:pt x="10718165" y="0"/>
                    <a:pt x="10723880" y="5883"/>
                    <a:pt x="10723880" y="13074"/>
                  </a:cubicBezTo>
                  <a:lnTo>
                    <a:pt x="10723880" y="7543426"/>
                  </a:lnTo>
                  <a:cubicBezTo>
                    <a:pt x="10723880" y="7550617"/>
                    <a:pt x="10718165" y="7556500"/>
                    <a:pt x="10711180" y="7556500"/>
                  </a:cubicBezTo>
                  <a:lnTo>
                    <a:pt x="12700" y="7556500"/>
                  </a:lnTo>
                  <a:cubicBezTo>
                    <a:pt x="5715" y="7556500"/>
                    <a:pt x="0" y="7550617"/>
                    <a:pt x="0" y="7543426"/>
                  </a:cubicBezTo>
                  <a:lnTo>
                    <a:pt x="0" y="13074"/>
                  </a:lnTo>
                  <a:cubicBezTo>
                    <a:pt x="0" y="5883"/>
                    <a:pt x="5715" y="0"/>
                    <a:pt x="12700" y="0"/>
                  </a:cubicBezTo>
                  <a:moveTo>
                    <a:pt x="12700" y="26147"/>
                  </a:moveTo>
                  <a:lnTo>
                    <a:pt x="12700" y="13074"/>
                  </a:lnTo>
                  <a:lnTo>
                    <a:pt x="25400" y="13074"/>
                  </a:lnTo>
                  <a:lnTo>
                    <a:pt x="25400" y="7543426"/>
                  </a:lnTo>
                  <a:lnTo>
                    <a:pt x="12700" y="7543426"/>
                  </a:lnTo>
                  <a:lnTo>
                    <a:pt x="12700" y="7530353"/>
                  </a:lnTo>
                  <a:lnTo>
                    <a:pt x="10711180" y="7530353"/>
                  </a:lnTo>
                  <a:lnTo>
                    <a:pt x="10711180" y="7543426"/>
                  </a:lnTo>
                  <a:lnTo>
                    <a:pt x="10698480" y="7543426"/>
                  </a:lnTo>
                  <a:lnTo>
                    <a:pt x="10698480" y="13074"/>
                  </a:lnTo>
                  <a:lnTo>
                    <a:pt x="10711180" y="13074"/>
                  </a:lnTo>
                  <a:lnTo>
                    <a:pt x="10711180" y="26147"/>
                  </a:lnTo>
                  <a:lnTo>
                    <a:pt x="12700" y="26147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75520" y="4114800"/>
            <a:ext cx="7543800" cy="548640"/>
            <a:chOff x="0" y="0"/>
            <a:chExt cx="100584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0058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Choosing k = 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75520" y="4663440"/>
            <a:ext cx="7543800" cy="685800"/>
            <a:chOff x="0" y="0"/>
            <a:chExt cx="1005840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58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058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NbClust aggregates 23 indices → majority rule selects k = 3; confirmed by Hubert and D-index.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772650" y="5297805"/>
            <a:ext cx="7749540" cy="3806190"/>
            <a:chOff x="0" y="0"/>
            <a:chExt cx="10332720" cy="50749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332720" cy="5074920"/>
            </a:xfrm>
            <a:custGeom>
              <a:avLst/>
              <a:gdLst/>
              <a:ahLst/>
              <a:cxnLst/>
              <a:rect r="r" b="b" t="t" l="l"/>
              <a:pathLst>
                <a:path h="507492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074920"/>
                  </a:lnTo>
                  <a:lnTo>
                    <a:pt x="0" y="507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479" r="0" b="-19479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738360" y="9155430"/>
            <a:ext cx="7543800" cy="411480"/>
            <a:chOff x="0" y="0"/>
            <a:chExt cx="10058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058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6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Hubert index — clear structural break at k = 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33821"/>
            <a:ext cx="13716000" cy="457719"/>
            <a:chOff x="0" y="0"/>
            <a:chExt cx="18288000" cy="610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10292"/>
            </a:xfrm>
            <a:custGeom>
              <a:avLst/>
              <a:gdLst/>
              <a:ahLst/>
              <a:cxnLst/>
              <a:rect r="r" b="b" t="t" l="l"/>
              <a:pathLst>
                <a:path h="61029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10292"/>
                  </a:lnTo>
                  <a:lnTo>
                    <a:pt x="0" y="610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939" r="0" b="-5288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6388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600">
                  <a:solidFill>
                    <a:srgbClr val="7661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RQ1  · DESCRIPTIVE STATISTICS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850392"/>
            <a:ext cx="16870680" cy="960120"/>
            <a:chOff x="0" y="0"/>
            <a:chExt cx="224942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79" r="0" b="-2923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4942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Substantial Heterogeneity in Customer Behaviour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883283"/>
            <a:ext cx="636270" cy="101346"/>
            <a:chOff x="0" y="0"/>
            <a:chExt cx="84836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822960" cy="109728"/>
            </a:xfrm>
            <a:custGeom>
              <a:avLst/>
              <a:gdLst/>
              <a:ahLst/>
              <a:cxnLst/>
              <a:rect r="r" b="b" t="t" l="l"/>
              <a:pathLst>
                <a:path h="109728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360" cy="135128"/>
            </a:xfrm>
            <a:custGeom>
              <a:avLst/>
              <a:gdLst/>
              <a:ahLst/>
              <a:cxnLst/>
              <a:rect r="r" b="b" t="t" l="l"/>
              <a:pathLst>
                <a:path h="135128" w="84836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2428"/>
                  </a:lnTo>
                  <a:cubicBezTo>
                    <a:pt x="848360" y="129413"/>
                    <a:pt x="842645" y="135128"/>
                    <a:pt x="83566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835660" y="109728"/>
                  </a:lnTo>
                  <a:lnTo>
                    <a:pt x="835660" y="122428"/>
                  </a:lnTo>
                  <a:lnTo>
                    <a:pt x="822960" y="122428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5800" y="2400300"/>
            <a:ext cx="8641080" cy="480060"/>
            <a:chOff x="0" y="0"/>
            <a:chExt cx="1152144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21440" cy="640080"/>
            </a:xfrm>
            <a:custGeom>
              <a:avLst/>
              <a:gdLst/>
              <a:ahLst/>
              <a:cxnLst/>
              <a:rect r="r" b="b" t="t" l="l"/>
              <a:pathLst>
                <a:path h="6400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5214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i="true">
                  <a:solidFill>
                    <a:srgbClr val="39261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Table 1. 2018 RFM distribution (N = 3,214)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85800" y="2948940"/>
          <a:ext cx="8610600" cy="3657600"/>
        </p:xfrm>
        <a:graphic>
          <a:graphicData uri="http://schemas.openxmlformats.org/drawingml/2006/table">
            <a:tbl>
              <a:tblPr/>
              <a:tblGrid>
                <a:gridCol w="1780076"/>
                <a:gridCol w="2322002"/>
                <a:gridCol w="2322002"/>
                <a:gridCol w="2186520"/>
              </a:tblGrid>
              <a:tr h="5673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Statistic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Recency (days)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Frequency (txn)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Monetary ($)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5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3926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3926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1st Qu.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71.6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3926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219.1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3926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78.04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24.81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794.5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3926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3rd Qu.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648.6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3926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Max.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1,641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75,439.8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676275" y="6779895"/>
            <a:ext cx="8660130" cy="2693670"/>
            <a:chOff x="0" y="0"/>
            <a:chExt cx="11546840" cy="3591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152144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46840" cy="3591560"/>
            </a:xfrm>
            <a:custGeom>
              <a:avLst/>
              <a:gdLst/>
              <a:ahLst/>
              <a:cxnLst/>
              <a:rect r="r" b="b" t="t" l="l"/>
              <a:pathLst>
                <a:path h="3591560" w="11546840">
                  <a:moveTo>
                    <a:pt x="12700" y="0"/>
                  </a:moveTo>
                  <a:lnTo>
                    <a:pt x="11534140" y="0"/>
                  </a:lnTo>
                  <a:cubicBezTo>
                    <a:pt x="11541125" y="0"/>
                    <a:pt x="11546840" y="5715"/>
                    <a:pt x="11546840" y="12700"/>
                  </a:cubicBezTo>
                  <a:lnTo>
                    <a:pt x="11546840" y="3578860"/>
                  </a:lnTo>
                  <a:cubicBezTo>
                    <a:pt x="11546840" y="3585845"/>
                    <a:pt x="11541125" y="3591560"/>
                    <a:pt x="11534140" y="3591560"/>
                  </a:cubicBezTo>
                  <a:lnTo>
                    <a:pt x="12700" y="3591560"/>
                  </a:lnTo>
                  <a:cubicBezTo>
                    <a:pt x="5715" y="3591560"/>
                    <a:pt x="0" y="3585845"/>
                    <a:pt x="0" y="35788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578860"/>
                  </a:lnTo>
                  <a:lnTo>
                    <a:pt x="12700" y="3578860"/>
                  </a:lnTo>
                  <a:lnTo>
                    <a:pt x="12700" y="3566160"/>
                  </a:lnTo>
                  <a:lnTo>
                    <a:pt x="11534140" y="3566160"/>
                  </a:lnTo>
                  <a:lnTo>
                    <a:pt x="11534140" y="3578860"/>
                  </a:lnTo>
                  <a:lnTo>
                    <a:pt x="11521440" y="3578860"/>
                  </a:lnTo>
                  <a:lnTo>
                    <a:pt x="11521440" y="12700"/>
                  </a:lnTo>
                  <a:lnTo>
                    <a:pt x="11534140" y="12700"/>
                  </a:lnTo>
                  <a:lnTo>
                    <a:pt x="1153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6275" y="6779895"/>
            <a:ext cx="128778" cy="2693670"/>
            <a:chOff x="0" y="0"/>
            <a:chExt cx="171704" cy="3591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146304" cy="3566160"/>
            </a:xfrm>
            <a:custGeom>
              <a:avLst/>
              <a:gdLst/>
              <a:ahLst/>
              <a:cxnLst/>
              <a:rect r="r" b="b" t="t" l="l"/>
              <a:pathLst>
                <a:path h="35661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B38B6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1704" cy="3591560"/>
            </a:xfrm>
            <a:custGeom>
              <a:avLst/>
              <a:gdLst/>
              <a:ahLst/>
              <a:cxnLst/>
              <a:rect r="r" b="b" t="t" l="l"/>
              <a:pathLst>
                <a:path h="35915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578860"/>
                  </a:lnTo>
                  <a:cubicBezTo>
                    <a:pt x="171704" y="3585845"/>
                    <a:pt x="165989" y="3591560"/>
                    <a:pt x="159004" y="3591560"/>
                  </a:cubicBezTo>
                  <a:lnTo>
                    <a:pt x="12700" y="3591560"/>
                  </a:lnTo>
                  <a:cubicBezTo>
                    <a:pt x="5715" y="3591560"/>
                    <a:pt x="0" y="3585845"/>
                    <a:pt x="0" y="35788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578860"/>
                  </a:lnTo>
                  <a:lnTo>
                    <a:pt x="12700" y="3578860"/>
                  </a:lnTo>
                  <a:lnTo>
                    <a:pt x="12700" y="3566160"/>
                  </a:lnTo>
                  <a:lnTo>
                    <a:pt x="159004" y="3566160"/>
                  </a:lnTo>
                  <a:lnTo>
                    <a:pt x="159004" y="3578860"/>
                  </a:lnTo>
                  <a:lnTo>
                    <a:pt x="146304" y="35788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38B6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6995160"/>
            <a:ext cx="8229600" cy="548640"/>
            <a:chOff x="0" y="0"/>
            <a:chExt cx="109728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Highly right-skewed — small group drives most activity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7543800"/>
            <a:ext cx="8229600" cy="1783080"/>
            <a:chOff x="0" y="0"/>
            <a:chExt cx="10972800" cy="2377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972800" cy="2415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Monetary is </a:t>
              </a: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$794 vs median $219</a:t>
              </a:r>
              <a:r>
                <a:rPr lang="en-US" sz="1800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 Mean Frequency is </a:t>
              </a: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24.8 vs median 11</a:t>
              </a:r>
              <a:r>
                <a:rPr lang="en-US" sz="1800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 A small share of customers accounts for a disproportionate share of spending — motivating clustering rather than averages.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01200" y="2400300"/>
            <a:ext cx="8023860" cy="480060"/>
            <a:chOff x="0" y="0"/>
            <a:chExt cx="1069848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9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06984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i="true">
                  <a:solidFill>
                    <a:srgbClr val="39261D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Figure 1. RFM distribution across the three segments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64040" y="2948940"/>
            <a:ext cx="8298180" cy="5760720"/>
            <a:chOff x="0" y="0"/>
            <a:chExt cx="11064240" cy="7680960"/>
          </a:xfrm>
        </p:grpSpPr>
        <p:sp>
          <p:nvSpPr>
            <p:cNvPr name="Freeform 31" id="31" descr="/home/claude/ppt/Rplot4.png"/>
            <p:cNvSpPr/>
            <p:nvPr/>
          </p:nvSpPr>
          <p:spPr>
            <a:xfrm flipH="false" flipV="false" rot="0">
              <a:off x="0" y="0"/>
              <a:ext cx="11064240" cy="7680960"/>
            </a:xfrm>
            <a:custGeom>
              <a:avLst/>
              <a:gdLst/>
              <a:ahLst/>
              <a:cxnLst/>
              <a:rect r="r" b="b" t="t" l="l"/>
              <a:pathLst>
                <a:path h="768096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9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01200" y="8846820"/>
            <a:ext cx="8023860" cy="685800"/>
            <a:chOff x="0" y="0"/>
            <a:chExt cx="1069848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974" r="0" b="-1779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06984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1F293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Clear behavioural gradient: Segment 1 is the most engaged, Segment 3 the least — on every RFM dimension.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600">
                  <a:solidFill>
                    <a:srgbClr val="7661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RQ1  ·  §2.3 SEGMENTATION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850392"/>
            <a:ext cx="16870680" cy="960120"/>
            <a:chOff x="0" y="0"/>
            <a:chExt cx="224942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79" r="0" b="-2923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4942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Three Distinct Customer Segments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883283"/>
            <a:ext cx="636270" cy="101346"/>
            <a:chOff x="0" y="0"/>
            <a:chExt cx="84836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822960" cy="109728"/>
            </a:xfrm>
            <a:custGeom>
              <a:avLst/>
              <a:gdLst/>
              <a:ahLst/>
              <a:cxnLst/>
              <a:rect r="r" b="b" t="t" l="l"/>
              <a:pathLst>
                <a:path h="109728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360" cy="135128"/>
            </a:xfrm>
            <a:custGeom>
              <a:avLst/>
              <a:gdLst/>
              <a:ahLst/>
              <a:cxnLst/>
              <a:rect r="r" b="b" t="t" l="l"/>
              <a:pathLst>
                <a:path h="135128" w="84836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2428"/>
                  </a:lnTo>
                  <a:cubicBezTo>
                    <a:pt x="848360" y="129413"/>
                    <a:pt x="842645" y="135128"/>
                    <a:pt x="83566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835660" y="109728"/>
                  </a:lnTo>
                  <a:lnTo>
                    <a:pt x="835660" y="122428"/>
                  </a:lnTo>
                  <a:lnTo>
                    <a:pt x="822960" y="122428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85800" y="2400300"/>
          <a:ext cx="16802100" cy="3829050"/>
        </p:xfrm>
        <a:graphic>
          <a:graphicData uri="http://schemas.openxmlformats.org/drawingml/2006/table">
            <a:tbl>
              <a:tblPr/>
              <a:tblGrid>
                <a:gridCol w="966459"/>
                <a:gridCol w="3809429"/>
                <a:gridCol w="1440287"/>
                <a:gridCol w="1507977"/>
                <a:gridCol w="2320254"/>
                <a:gridCol w="1778736"/>
                <a:gridCol w="2387944"/>
                <a:gridCol w="2591013"/>
              </a:tblGrid>
              <a:tr h="7561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Label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Recency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Freq.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Spend ($)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2019 Churn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24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61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9261D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High-Value Customers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1,968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61.2%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17.2 days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1,181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EC4B6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7.9%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B6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9261D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At-Risk Customers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789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24.5%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120 days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8.1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766153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38.1%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A68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9261D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  Dormant Customers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14.2%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268 days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4.1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08E45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71.1%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676275" y="6436995"/>
            <a:ext cx="5505450" cy="2350770"/>
            <a:chOff x="0" y="0"/>
            <a:chExt cx="7340600" cy="3134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73152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4060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3121660"/>
                  </a:lnTo>
                  <a:cubicBezTo>
                    <a:pt x="7340600" y="3128645"/>
                    <a:pt x="7334885" y="3134360"/>
                    <a:pt x="732790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7327900" y="3108960"/>
                  </a:lnTo>
                  <a:lnTo>
                    <a:pt x="7327900" y="3121660"/>
                  </a:lnTo>
                  <a:lnTo>
                    <a:pt x="7315200" y="31216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6436995"/>
            <a:ext cx="128778" cy="2350770"/>
            <a:chOff x="0" y="0"/>
            <a:chExt cx="171704" cy="3134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46304" cy="3108960"/>
            </a:xfrm>
            <a:custGeom>
              <a:avLst/>
              <a:gdLst/>
              <a:ahLst/>
              <a:cxnLst/>
              <a:rect r="r" b="b" t="t" l="l"/>
              <a:pathLst>
                <a:path h="3108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76615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1704" cy="3134360"/>
            </a:xfrm>
            <a:custGeom>
              <a:avLst/>
              <a:gdLst/>
              <a:ahLst/>
              <a:cxnLst/>
              <a:rect r="r" b="b" t="t" l="l"/>
              <a:pathLst>
                <a:path h="31343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121660"/>
                  </a:lnTo>
                  <a:cubicBezTo>
                    <a:pt x="171704" y="3128645"/>
                    <a:pt x="165989" y="3134360"/>
                    <a:pt x="159004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159004" y="3108960"/>
                  </a:lnTo>
                  <a:lnTo>
                    <a:pt x="159004" y="3121660"/>
                  </a:lnTo>
                  <a:lnTo>
                    <a:pt x="146304" y="31216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38B6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6611112"/>
            <a:ext cx="5074920" cy="548640"/>
            <a:chOff x="0" y="0"/>
            <a:chExt cx="67665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766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EC4B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Segment 1 — High-Value (61.2%)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7132320"/>
            <a:ext cx="5074920" cy="1577340"/>
            <a:chOff x="0" y="0"/>
            <a:chExt cx="6766560" cy="2103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6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90" r="0" b="-1269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76656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core active base. Purchased recently and frequently, highest spending, low churn. The program's financial backbone.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64427" y="6436995"/>
            <a:ext cx="5505450" cy="2350770"/>
            <a:chOff x="0" y="0"/>
            <a:chExt cx="7340600" cy="3134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73152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4060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3121660"/>
                  </a:lnTo>
                  <a:cubicBezTo>
                    <a:pt x="7340600" y="3128645"/>
                    <a:pt x="7334885" y="3134360"/>
                    <a:pt x="732790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7327900" y="3108960"/>
                  </a:lnTo>
                  <a:lnTo>
                    <a:pt x="7327900" y="3121660"/>
                  </a:lnTo>
                  <a:lnTo>
                    <a:pt x="7315200" y="31216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64427" y="6436995"/>
            <a:ext cx="128778" cy="2350770"/>
            <a:chOff x="0" y="0"/>
            <a:chExt cx="171704" cy="3134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46304" cy="3108960"/>
            </a:xfrm>
            <a:custGeom>
              <a:avLst/>
              <a:gdLst/>
              <a:ahLst/>
              <a:cxnLst/>
              <a:rect r="r" b="b" t="t" l="l"/>
              <a:pathLst>
                <a:path h="3108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B38B6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1704" cy="3134360"/>
            </a:xfrm>
            <a:custGeom>
              <a:avLst/>
              <a:gdLst/>
              <a:ahLst/>
              <a:cxnLst/>
              <a:rect r="r" b="b" t="t" l="l"/>
              <a:pathLst>
                <a:path h="31343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121660"/>
                  </a:lnTo>
                  <a:cubicBezTo>
                    <a:pt x="171704" y="3128645"/>
                    <a:pt x="165989" y="3134360"/>
                    <a:pt x="159004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159004" y="3108960"/>
                  </a:lnTo>
                  <a:lnTo>
                    <a:pt x="159004" y="3121660"/>
                  </a:lnTo>
                  <a:lnTo>
                    <a:pt x="146304" y="31216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38B6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748272" y="6611112"/>
            <a:ext cx="5074920" cy="548640"/>
            <a:chOff x="0" y="0"/>
            <a:chExt cx="67665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766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76615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Segment 2 — At-Risk (24.5%)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48272" y="7132320"/>
            <a:ext cx="5074920" cy="1577340"/>
            <a:chOff x="0" y="0"/>
            <a:chExt cx="6766560" cy="2103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66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90" r="0" b="-126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76656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Activity clearly lower than Segment 1 — longer inactivity, lower spend. 38% already churning; retention efforts here can make the most difference.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52579" y="6436995"/>
            <a:ext cx="5505450" cy="2350770"/>
            <a:chOff x="0" y="0"/>
            <a:chExt cx="7340600" cy="3134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73152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4060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3121660"/>
                  </a:lnTo>
                  <a:cubicBezTo>
                    <a:pt x="7340600" y="3128645"/>
                    <a:pt x="7334885" y="3134360"/>
                    <a:pt x="732790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7327900" y="3108960"/>
                  </a:lnTo>
                  <a:lnTo>
                    <a:pt x="7327900" y="3121660"/>
                  </a:lnTo>
                  <a:lnTo>
                    <a:pt x="7315200" y="31216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252579" y="6436995"/>
            <a:ext cx="128778" cy="2350770"/>
            <a:chOff x="0" y="0"/>
            <a:chExt cx="171704" cy="3134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146304" cy="3108960"/>
            </a:xfrm>
            <a:custGeom>
              <a:avLst/>
              <a:gdLst/>
              <a:ahLst/>
              <a:cxnLst/>
              <a:rect r="r" b="b" t="t" l="l"/>
              <a:pathLst>
                <a:path h="3108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CAA68B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1704" cy="3134360"/>
            </a:xfrm>
            <a:custGeom>
              <a:avLst/>
              <a:gdLst/>
              <a:ahLst/>
              <a:cxnLst/>
              <a:rect r="r" b="b" t="t" l="l"/>
              <a:pathLst>
                <a:path h="31343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121660"/>
                  </a:lnTo>
                  <a:cubicBezTo>
                    <a:pt x="171704" y="3128645"/>
                    <a:pt x="165989" y="3134360"/>
                    <a:pt x="159004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159004" y="3108960"/>
                  </a:lnTo>
                  <a:lnTo>
                    <a:pt x="159004" y="3121660"/>
                  </a:lnTo>
                  <a:lnTo>
                    <a:pt x="146304" y="31216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08E4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536424" y="6611112"/>
            <a:ext cx="5074920" cy="548640"/>
            <a:chOff x="0" y="0"/>
            <a:chExt cx="67665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766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E08E4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Segment 3 — Dormant (14.2%)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536424" y="7132320"/>
            <a:ext cx="5074920" cy="1577340"/>
            <a:chOff x="0" y="0"/>
            <a:chExt cx="6766560" cy="2103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66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90" r="0" b="-126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76656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Long inactivity, minimal spending, 71% churn. Heavy retention investment unlikely to be effective for this group.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76275" y="8974455"/>
            <a:ext cx="16889730" cy="704850"/>
            <a:chOff x="0" y="0"/>
            <a:chExt cx="22519640" cy="939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00" y="12700"/>
              <a:ext cx="22494239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519639" cy="939800"/>
            </a:xfrm>
            <a:custGeom>
              <a:avLst/>
              <a:gdLst/>
              <a:ahLst/>
              <a:cxnLst/>
              <a:rect r="r" b="b" t="t" l="l"/>
              <a:pathLst>
                <a:path h="939800" w="22519639">
                  <a:moveTo>
                    <a:pt x="12700" y="0"/>
                  </a:moveTo>
                  <a:lnTo>
                    <a:pt x="22506939" y="0"/>
                  </a:lnTo>
                  <a:cubicBezTo>
                    <a:pt x="22513925" y="0"/>
                    <a:pt x="22519639" y="5715"/>
                    <a:pt x="22519639" y="12700"/>
                  </a:cubicBezTo>
                  <a:lnTo>
                    <a:pt x="22519639" y="927100"/>
                  </a:lnTo>
                  <a:cubicBezTo>
                    <a:pt x="22519639" y="934085"/>
                    <a:pt x="22513925" y="939800"/>
                    <a:pt x="22506939" y="939800"/>
                  </a:cubicBezTo>
                  <a:lnTo>
                    <a:pt x="12700" y="939800"/>
                  </a:lnTo>
                  <a:cubicBezTo>
                    <a:pt x="5715" y="939800"/>
                    <a:pt x="0" y="934085"/>
                    <a:pt x="0" y="927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100"/>
                  </a:lnTo>
                  <a:lnTo>
                    <a:pt x="12700" y="927100"/>
                  </a:lnTo>
                  <a:lnTo>
                    <a:pt x="12700" y="914400"/>
                  </a:lnTo>
                  <a:lnTo>
                    <a:pt x="22506939" y="914400"/>
                  </a:lnTo>
                  <a:lnTo>
                    <a:pt x="22506939" y="927100"/>
                  </a:lnTo>
                  <a:lnTo>
                    <a:pt x="22494239" y="927100"/>
                  </a:lnTo>
                  <a:lnTo>
                    <a:pt x="22494239" y="12700"/>
                  </a:lnTo>
                  <a:lnTo>
                    <a:pt x="22506939" y="12700"/>
                  </a:lnTo>
                  <a:lnTo>
                    <a:pt x="225069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28700" y="8983980"/>
            <a:ext cx="16184880" cy="685800"/>
            <a:chOff x="0" y="0"/>
            <a:chExt cx="2157984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5798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846" r="0" b="-40984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15798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i="true">
                  <a:solidFill>
                    <a:srgbClr val="2EC4B6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Churn rises from 7.9% → 38.1% → 71.1% </a:t>
              </a:r>
              <a:r>
                <a:rPr lang="en-US" sz="195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— 2018 behaviour already foreshadows 2019 retention outcomes.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600">
                  <a:solidFill>
                    <a:srgbClr val="7661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RQ1 ANSWERED  ·  TO RQ2 &amp; RQ3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850392"/>
            <a:ext cx="16870680" cy="960120"/>
            <a:chOff x="0" y="0"/>
            <a:chExt cx="224942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79" r="0" b="-2923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4942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We've Answered — and What Comes Next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883283"/>
            <a:ext cx="636270" cy="101346"/>
            <a:chOff x="0" y="0"/>
            <a:chExt cx="848360" cy="13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822960" cy="109728"/>
            </a:xfrm>
            <a:custGeom>
              <a:avLst/>
              <a:gdLst/>
              <a:ahLst/>
              <a:cxnLst/>
              <a:rect r="r" b="b" t="t" l="l"/>
              <a:pathLst>
                <a:path h="109728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B38B6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360" cy="135128"/>
            </a:xfrm>
            <a:custGeom>
              <a:avLst/>
              <a:gdLst/>
              <a:ahLst/>
              <a:cxnLst/>
              <a:rect r="r" b="b" t="t" l="l"/>
              <a:pathLst>
                <a:path h="135128" w="84836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2428"/>
                  </a:lnTo>
                  <a:cubicBezTo>
                    <a:pt x="848360" y="129413"/>
                    <a:pt x="842645" y="135128"/>
                    <a:pt x="83566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835660" y="109728"/>
                  </a:lnTo>
                  <a:lnTo>
                    <a:pt x="835660" y="122428"/>
                  </a:lnTo>
                  <a:lnTo>
                    <a:pt x="822960" y="122428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6275" y="2322195"/>
            <a:ext cx="16889730" cy="1802130"/>
            <a:chOff x="0" y="0"/>
            <a:chExt cx="22519640" cy="2402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22494239" cy="2377440"/>
            </a:xfrm>
            <a:custGeom>
              <a:avLst/>
              <a:gdLst/>
              <a:ahLst/>
              <a:cxnLst/>
              <a:rect r="r" b="b" t="t" l="l"/>
              <a:pathLst>
                <a:path h="23774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19639" cy="2402840"/>
            </a:xfrm>
            <a:custGeom>
              <a:avLst/>
              <a:gdLst/>
              <a:ahLst/>
              <a:cxnLst/>
              <a:rect r="r" b="b" t="t" l="l"/>
              <a:pathLst>
                <a:path h="2402840" w="22519639">
                  <a:moveTo>
                    <a:pt x="12700" y="0"/>
                  </a:moveTo>
                  <a:lnTo>
                    <a:pt x="22506939" y="0"/>
                  </a:lnTo>
                  <a:cubicBezTo>
                    <a:pt x="22513925" y="0"/>
                    <a:pt x="22519639" y="5715"/>
                    <a:pt x="22519639" y="12700"/>
                  </a:cubicBezTo>
                  <a:lnTo>
                    <a:pt x="22519639" y="2390140"/>
                  </a:lnTo>
                  <a:cubicBezTo>
                    <a:pt x="22519639" y="2397125"/>
                    <a:pt x="22513925" y="2402840"/>
                    <a:pt x="22506939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22506939" y="2377440"/>
                  </a:lnTo>
                  <a:lnTo>
                    <a:pt x="22506939" y="2390140"/>
                  </a:lnTo>
                  <a:lnTo>
                    <a:pt x="22494239" y="2390140"/>
                  </a:lnTo>
                  <a:lnTo>
                    <a:pt x="22494239" y="12700"/>
                  </a:lnTo>
                  <a:lnTo>
                    <a:pt x="22506939" y="12700"/>
                  </a:lnTo>
                  <a:lnTo>
                    <a:pt x="225069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6275" y="2322195"/>
            <a:ext cx="128778" cy="1802130"/>
            <a:chOff x="0" y="0"/>
            <a:chExt cx="171704" cy="240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46304" cy="2377440"/>
            </a:xfrm>
            <a:custGeom>
              <a:avLst/>
              <a:gdLst/>
              <a:ahLst/>
              <a:cxnLst/>
              <a:rect r="r" b="b" t="t" l="l"/>
              <a:pathLst>
                <a:path h="23774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B38B6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704" cy="2402840"/>
            </a:xfrm>
            <a:custGeom>
              <a:avLst/>
              <a:gdLst/>
              <a:ahLst/>
              <a:cxnLst/>
              <a:rect r="r" b="b" t="t" l="l"/>
              <a:pathLst>
                <a:path h="240284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2390140"/>
                  </a:lnTo>
                  <a:cubicBezTo>
                    <a:pt x="171704" y="2397125"/>
                    <a:pt x="165989" y="2402840"/>
                    <a:pt x="159004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159004" y="2377440"/>
                  </a:lnTo>
                  <a:lnTo>
                    <a:pt x="159004" y="2390140"/>
                  </a:lnTo>
                  <a:lnTo>
                    <a:pt x="146304" y="239014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2496312"/>
            <a:ext cx="5486400" cy="411480"/>
            <a:chOff x="0" y="0"/>
            <a:chExt cx="73152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50">
                  <a:solidFill>
                    <a:srgbClr val="7661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RQ1 — ANSWERED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2880360"/>
            <a:ext cx="16184880" cy="617220"/>
            <a:chOff x="0" y="0"/>
            <a:chExt cx="2157984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579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Three behaviourally distinct segments exist in the FGP programme.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3538728"/>
            <a:ext cx="16184880" cy="548640"/>
            <a:chOff x="0" y="0"/>
            <a:chExt cx="215798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79839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High-Value (61%) · At-Risk (25%) · Dormant (14%) — statistically robust, cleanly separated, and already strongly predictive of 2019 churn at the segment level.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5800" y="4389120"/>
            <a:ext cx="16870680" cy="548640"/>
            <a:chOff x="0" y="0"/>
            <a:chExt cx="224942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2494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6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Segment-level findings raise two deeper questions: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6275" y="5133975"/>
            <a:ext cx="8385810" cy="3790950"/>
            <a:chOff x="0" y="0"/>
            <a:chExt cx="11181080" cy="5054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11155680" cy="5029200"/>
            </a:xfrm>
            <a:custGeom>
              <a:avLst/>
              <a:gdLst/>
              <a:ahLst/>
              <a:cxnLst/>
              <a:rect r="r" b="b" t="t" l="l"/>
              <a:pathLst>
                <a:path h="50292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029200"/>
                  </a:lnTo>
                  <a:lnTo>
                    <a:pt x="0" y="502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81080" cy="5054600"/>
            </a:xfrm>
            <a:custGeom>
              <a:avLst/>
              <a:gdLst/>
              <a:ahLst/>
              <a:cxnLst/>
              <a:rect r="r" b="b" t="t" l="l"/>
              <a:pathLst>
                <a:path h="5054600" w="11181080">
                  <a:moveTo>
                    <a:pt x="12700" y="0"/>
                  </a:moveTo>
                  <a:lnTo>
                    <a:pt x="11168380" y="0"/>
                  </a:lnTo>
                  <a:cubicBezTo>
                    <a:pt x="11175365" y="0"/>
                    <a:pt x="11181080" y="5715"/>
                    <a:pt x="11181080" y="12700"/>
                  </a:cubicBezTo>
                  <a:lnTo>
                    <a:pt x="11181080" y="5041900"/>
                  </a:lnTo>
                  <a:cubicBezTo>
                    <a:pt x="11181080" y="5048885"/>
                    <a:pt x="11175365" y="5054600"/>
                    <a:pt x="11168380" y="5054600"/>
                  </a:cubicBezTo>
                  <a:lnTo>
                    <a:pt x="12700" y="5054600"/>
                  </a:lnTo>
                  <a:cubicBezTo>
                    <a:pt x="5715" y="5054600"/>
                    <a:pt x="0" y="5048885"/>
                    <a:pt x="0" y="504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041900"/>
                  </a:lnTo>
                  <a:lnTo>
                    <a:pt x="12700" y="5041900"/>
                  </a:lnTo>
                  <a:lnTo>
                    <a:pt x="12700" y="5029200"/>
                  </a:lnTo>
                  <a:lnTo>
                    <a:pt x="11168380" y="5029200"/>
                  </a:lnTo>
                  <a:lnTo>
                    <a:pt x="11168380" y="5041900"/>
                  </a:lnTo>
                  <a:lnTo>
                    <a:pt x="11155680" y="5041900"/>
                  </a:lnTo>
                  <a:lnTo>
                    <a:pt x="11155680" y="12700"/>
                  </a:lnTo>
                  <a:lnTo>
                    <a:pt x="11168380" y="12700"/>
                  </a:lnTo>
                  <a:lnTo>
                    <a:pt x="11168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6275" y="5133975"/>
            <a:ext cx="8385810" cy="842010"/>
            <a:chOff x="0" y="0"/>
            <a:chExt cx="11181080" cy="1122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11155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CAA68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810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181080">
                  <a:moveTo>
                    <a:pt x="12700" y="0"/>
                  </a:moveTo>
                  <a:lnTo>
                    <a:pt x="11168380" y="0"/>
                  </a:lnTo>
                  <a:cubicBezTo>
                    <a:pt x="11175365" y="0"/>
                    <a:pt x="11181080" y="5715"/>
                    <a:pt x="11181080" y="12700"/>
                  </a:cubicBezTo>
                  <a:lnTo>
                    <a:pt x="11181080" y="1109980"/>
                  </a:lnTo>
                  <a:cubicBezTo>
                    <a:pt x="11181080" y="1116965"/>
                    <a:pt x="11175365" y="1122680"/>
                    <a:pt x="11168380" y="1122680"/>
                  </a:cubicBezTo>
                  <a:lnTo>
                    <a:pt x="12700" y="1122680"/>
                  </a:lnTo>
                  <a:cubicBezTo>
                    <a:pt x="5715" y="1122680"/>
                    <a:pt x="0" y="1116965"/>
                    <a:pt x="0" y="11099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9980"/>
                  </a:lnTo>
                  <a:lnTo>
                    <a:pt x="12700" y="1109980"/>
                  </a:lnTo>
                  <a:lnTo>
                    <a:pt x="12700" y="1097280"/>
                  </a:lnTo>
                  <a:lnTo>
                    <a:pt x="11168380" y="1097280"/>
                  </a:lnTo>
                  <a:lnTo>
                    <a:pt x="11168380" y="1109980"/>
                  </a:lnTo>
                  <a:lnTo>
                    <a:pt x="11155680" y="1109980"/>
                  </a:lnTo>
                  <a:lnTo>
                    <a:pt x="11155680" y="12700"/>
                  </a:lnTo>
                  <a:lnTo>
                    <a:pt x="11168380" y="12700"/>
                  </a:lnTo>
                  <a:lnTo>
                    <a:pt x="11168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7280" y="5308092"/>
            <a:ext cx="2743200" cy="548640"/>
            <a:chOff x="0" y="0"/>
            <a:chExt cx="36576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657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RQ2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7280" y="6172200"/>
            <a:ext cx="7543800" cy="1097280"/>
            <a:chOff x="0" y="0"/>
            <a:chExt cx="1005840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0058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How do segments differ in who the customers are?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" y="7269480"/>
            <a:ext cx="7543800" cy="1234440"/>
            <a:chOff x="0" y="0"/>
            <a:chExt cx="1005840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0584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Beyond RFM — do demographics, satisfaction, and advocacy differ systematically? What drives high-value membership and NPS?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" y="8366760"/>
            <a:ext cx="7543800" cy="411480"/>
            <a:chOff x="0" y="0"/>
            <a:chExt cx="10058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0058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766153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Next: customer profiling via regression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85935" y="5133975"/>
            <a:ext cx="8385810" cy="3790950"/>
            <a:chOff x="0" y="0"/>
            <a:chExt cx="11181080" cy="5054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11155680" cy="5029200"/>
            </a:xfrm>
            <a:custGeom>
              <a:avLst/>
              <a:gdLst/>
              <a:ahLst/>
              <a:cxnLst/>
              <a:rect r="r" b="b" t="t" l="l"/>
              <a:pathLst>
                <a:path h="50292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029200"/>
                  </a:lnTo>
                  <a:lnTo>
                    <a:pt x="0" y="502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81080" cy="5054600"/>
            </a:xfrm>
            <a:custGeom>
              <a:avLst/>
              <a:gdLst/>
              <a:ahLst/>
              <a:cxnLst/>
              <a:rect r="r" b="b" t="t" l="l"/>
              <a:pathLst>
                <a:path h="5054600" w="11181080">
                  <a:moveTo>
                    <a:pt x="12700" y="0"/>
                  </a:moveTo>
                  <a:lnTo>
                    <a:pt x="11168380" y="0"/>
                  </a:lnTo>
                  <a:cubicBezTo>
                    <a:pt x="11175365" y="0"/>
                    <a:pt x="11181080" y="5715"/>
                    <a:pt x="11181080" y="12700"/>
                  </a:cubicBezTo>
                  <a:lnTo>
                    <a:pt x="11181080" y="5041900"/>
                  </a:lnTo>
                  <a:cubicBezTo>
                    <a:pt x="11181080" y="5048885"/>
                    <a:pt x="11175365" y="5054600"/>
                    <a:pt x="11168380" y="5054600"/>
                  </a:cubicBezTo>
                  <a:lnTo>
                    <a:pt x="12700" y="5054600"/>
                  </a:lnTo>
                  <a:cubicBezTo>
                    <a:pt x="5715" y="5054600"/>
                    <a:pt x="0" y="5048885"/>
                    <a:pt x="0" y="504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041900"/>
                  </a:lnTo>
                  <a:lnTo>
                    <a:pt x="12700" y="5041900"/>
                  </a:lnTo>
                  <a:lnTo>
                    <a:pt x="12700" y="5029200"/>
                  </a:lnTo>
                  <a:lnTo>
                    <a:pt x="11168380" y="5029200"/>
                  </a:lnTo>
                  <a:lnTo>
                    <a:pt x="11168380" y="5041900"/>
                  </a:lnTo>
                  <a:lnTo>
                    <a:pt x="11155680" y="5041900"/>
                  </a:lnTo>
                  <a:lnTo>
                    <a:pt x="11155680" y="12700"/>
                  </a:lnTo>
                  <a:lnTo>
                    <a:pt x="11168380" y="12700"/>
                  </a:lnTo>
                  <a:lnTo>
                    <a:pt x="11168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85935" y="5133975"/>
            <a:ext cx="8385810" cy="842010"/>
            <a:chOff x="0" y="0"/>
            <a:chExt cx="11181080" cy="1122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11155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CAA68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1810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181080">
                  <a:moveTo>
                    <a:pt x="12700" y="0"/>
                  </a:moveTo>
                  <a:lnTo>
                    <a:pt x="11168380" y="0"/>
                  </a:lnTo>
                  <a:cubicBezTo>
                    <a:pt x="11175365" y="0"/>
                    <a:pt x="11181080" y="5715"/>
                    <a:pt x="11181080" y="12700"/>
                  </a:cubicBezTo>
                  <a:lnTo>
                    <a:pt x="11181080" y="1109980"/>
                  </a:lnTo>
                  <a:cubicBezTo>
                    <a:pt x="11181080" y="1116965"/>
                    <a:pt x="11175365" y="1122680"/>
                    <a:pt x="11168380" y="1122680"/>
                  </a:cubicBezTo>
                  <a:lnTo>
                    <a:pt x="12700" y="1122680"/>
                  </a:lnTo>
                  <a:cubicBezTo>
                    <a:pt x="5715" y="1122680"/>
                    <a:pt x="0" y="1116965"/>
                    <a:pt x="0" y="11099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9980"/>
                  </a:lnTo>
                  <a:lnTo>
                    <a:pt x="12700" y="1109980"/>
                  </a:lnTo>
                  <a:lnTo>
                    <a:pt x="12700" y="1097280"/>
                  </a:lnTo>
                  <a:lnTo>
                    <a:pt x="11168380" y="1097280"/>
                  </a:lnTo>
                  <a:lnTo>
                    <a:pt x="11168380" y="1109980"/>
                  </a:lnTo>
                  <a:lnTo>
                    <a:pt x="11155680" y="1109980"/>
                  </a:lnTo>
                  <a:lnTo>
                    <a:pt x="11155680" y="12700"/>
                  </a:lnTo>
                  <a:lnTo>
                    <a:pt x="11168380" y="12700"/>
                  </a:lnTo>
                  <a:lnTo>
                    <a:pt x="11168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08E4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806940" y="5308092"/>
            <a:ext cx="2743200" cy="548640"/>
            <a:chOff x="0" y="0"/>
            <a:chExt cx="36576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657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RQ3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06940" y="6172200"/>
            <a:ext cx="7543800" cy="1097280"/>
            <a:chOff x="0" y="0"/>
            <a:chExt cx="1005840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5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0058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39261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How do value and individual churn risk differ?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806940" y="7269480"/>
            <a:ext cx="7543800" cy="1234440"/>
            <a:chOff x="0" y="0"/>
            <a:chExt cx="10058400" cy="1645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0584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F29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Segment-level churn is a start — individual CLV and logistic churn probabilities turn the segmentation into a concrete priority matrix.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06940" y="8366760"/>
            <a:ext cx="7543800" cy="411480"/>
            <a:chOff x="0" y="0"/>
            <a:chExt cx="10058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0058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766153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Next: CLV estimation &amp; priority matrix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764278"/>
            <a:ext cx="18288000" cy="8522722"/>
            <a:chOff x="0" y="0"/>
            <a:chExt cx="4816593" cy="2244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244668"/>
            </a:xfrm>
            <a:custGeom>
              <a:avLst/>
              <a:gdLst/>
              <a:ahLst/>
              <a:cxnLst/>
              <a:rect r="r" b="b" t="t" l="l"/>
              <a:pathLst>
                <a:path h="224466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44668"/>
                  </a:lnTo>
                  <a:lnTo>
                    <a:pt x="0" y="2244668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29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4313" y="2049680"/>
            <a:ext cx="5539906" cy="4374242"/>
          </a:xfrm>
          <a:custGeom>
            <a:avLst/>
            <a:gdLst/>
            <a:ahLst/>
            <a:cxnLst/>
            <a:rect r="r" b="b" t="t" l="l"/>
            <a:pathLst>
              <a:path h="4374242" w="5539906">
                <a:moveTo>
                  <a:pt x="0" y="0"/>
                </a:moveTo>
                <a:lnTo>
                  <a:pt x="5539906" y="0"/>
                </a:lnTo>
                <a:lnTo>
                  <a:pt x="5539906" y="4374242"/>
                </a:lnTo>
                <a:lnTo>
                  <a:pt x="0" y="437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23794" y="2049680"/>
            <a:ext cx="5539906" cy="4374242"/>
          </a:xfrm>
          <a:custGeom>
            <a:avLst/>
            <a:gdLst/>
            <a:ahLst/>
            <a:cxnLst/>
            <a:rect r="r" b="b" t="t" l="l"/>
            <a:pathLst>
              <a:path h="4374242" w="5539906">
                <a:moveTo>
                  <a:pt x="0" y="0"/>
                </a:moveTo>
                <a:lnTo>
                  <a:pt x="5539905" y="0"/>
                </a:lnTo>
                <a:lnTo>
                  <a:pt x="5539905" y="4374242"/>
                </a:lnTo>
                <a:lnTo>
                  <a:pt x="0" y="4374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274212" y="2049680"/>
            <a:ext cx="5539906" cy="4374242"/>
          </a:xfrm>
          <a:custGeom>
            <a:avLst/>
            <a:gdLst/>
            <a:ahLst/>
            <a:cxnLst/>
            <a:rect r="r" b="b" t="t" l="l"/>
            <a:pathLst>
              <a:path h="4374242" w="5539906">
                <a:moveTo>
                  <a:pt x="0" y="0"/>
                </a:moveTo>
                <a:lnTo>
                  <a:pt x="5539906" y="0"/>
                </a:lnTo>
                <a:lnTo>
                  <a:pt x="5539906" y="4374242"/>
                </a:lnTo>
                <a:lnTo>
                  <a:pt x="0" y="4374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702783" y="7748419"/>
            <a:ext cx="4350008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SEGMENT 1: HIGH-VALUE</a:t>
            </a:r>
          </a:p>
          <a:p>
            <a:pPr algn="ctr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n = 1,968 (61.2%)</a:t>
            </a:r>
          </a:p>
          <a:p>
            <a:pPr algn="ctr" marL="0" indent="0" lvl="0">
              <a:lnSpc>
                <a:spcPts val="3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1776" y="990600"/>
            <a:ext cx="13718884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UNDERSTANDING WHAT DRIVES CUSTOMER SPENDING, HIGH-VALUE MEMBERSHIP, AND NPS ADVOCACY</a:t>
            </a:r>
          </a:p>
          <a:p>
            <a:pPr algn="l" marL="0" indent="0" lvl="0">
              <a:lnSpc>
                <a:spcPts val="33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6817737"/>
            <a:ext cx="17975298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Data: 3,214 FGP loyalty program members | IVs: 4-dimensional satisfaction + demographics | Period: 2018-2019</a:t>
            </a:r>
          </a:p>
          <a:p>
            <a:pPr algn="ctr" marL="0" indent="0" lvl="0">
              <a:lnSpc>
                <a:spcPts val="336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31776" y="297502"/>
            <a:ext cx="16982342" cy="135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b="true" sz="3700" spc="18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RQ2: SEGMENT PROFILING VIA REGRESSION ANALYSIS</a:t>
            </a:r>
          </a:p>
          <a:p>
            <a:pPr algn="l" marL="0" indent="0" lvl="0">
              <a:lnSpc>
                <a:spcPts val="56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147943" y="7748419"/>
            <a:ext cx="4350008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SEGMENT 2: AT-RISK</a:t>
            </a:r>
          </a:p>
          <a:p>
            <a:pPr algn="ctr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n = 789 (24.5%)</a:t>
            </a:r>
          </a:p>
          <a:p>
            <a:pPr algn="ctr" marL="0" indent="0" lvl="0">
              <a:lnSpc>
                <a:spcPts val="30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076466" y="7748419"/>
            <a:ext cx="4350008" cy="75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SEGMENT 3: DORMANT</a:t>
            </a:r>
          </a:p>
          <a:p>
            <a:pPr algn="ctr" marL="0" indent="0" lvl="0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n = 457 (14.2%)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318" y="1519028"/>
            <a:ext cx="8714875" cy="7940220"/>
          </a:xfrm>
          <a:custGeom>
            <a:avLst/>
            <a:gdLst/>
            <a:ahLst/>
            <a:cxnLst/>
            <a:rect r="r" b="b" t="t" l="l"/>
            <a:pathLst>
              <a:path h="7940220" w="8714875">
                <a:moveTo>
                  <a:pt x="0" y="0"/>
                </a:moveTo>
                <a:lnTo>
                  <a:pt x="8714876" y="0"/>
                </a:lnTo>
                <a:lnTo>
                  <a:pt x="8714876" y="7940220"/>
                </a:lnTo>
                <a:lnTo>
                  <a:pt x="0" y="794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7576" y="1519028"/>
            <a:ext cx="8990424" cy="7498507"/>
          </a:xfrm>
          <a:custGeom>
            <a:avLst/>
            <a:gdLst/>
            <a:ahLst/>
            <a:cxnLst/>
            <a:rect r="r" b="b" t="t" l="l"/>
            <a:pathLst>
              <a:path h="7498507" w="8990424">
                <a:moveTo>
                  <a:pt x="0" y="0"/>
                </a:moveTo>
                <a:lnTo>
                  <a:pt x="8990424" y="0"/>
                </a:lnTo>
                <a:lnTo>
                  <a:pt x="8990424" y="7498507"/>
                </a:lnTo>
                <a:lnTo>
                  <a:pt x="0" y="7498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4318" y="161467"/>
            <a:ext cx="17429751" cy="193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18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THREE DISTINCT SEGMENTS: SATISFACTION AND KEY METRICS DIVERGE SIGNIFICANTLY (ANOVA P &lt; 0.001)</a:t>
            </a:r>
          </a:p>
          <a:p>
            <a:pPr algn="l" marL="0" indent="0" lvl="0">
              <a:lnSpc>
                <a:spcPts val="50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44318" y="9547812"/>
            <a:ext cx="1661498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</a:pPr>
            <a:r>
              <a:rPr lang="en-US" b="true" sz="1900" spc="190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HIGH-VALUE CUSTOMERS SPEND 12X MORE AND CHURN 9X LESS THAN DORMANT CUSTOMERS — ALL SATISFACTION GAPS ARE HIGHLY SIGNIFICANT ACROSS SEGMENTS</a:t>
            </a:r>
          </a:p>
          <a:p>
            <a:pPr algn="l" marL="0" indent="0" lvl="0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318" y="1432101"/>
            <a:ext cx="17643682" cy="8755677"/>
          </a:xfrm>
          <a:custGeom>
            <a:avLst/>
            <a:gdLst/>
            <a:ahLst/>
            <a:cxnLst/>
            <a:rect r="r" b="b" t="t" l="l"/>
            <a:pathLst>
              <a:path h="8755677" w="17643682">
                <a:moveTo>
                  <a:pt x="0" y="0"/>
                </a:moveTo>
                <a:lnTo>
                  <a:pt x="17643682" y="0"/>
                </a:lnTo>
                <a:lnTo>
                  <a:pt x="17643682" y="8755677"/>
                </a:lnTo>
                <a:lnTo>
                  <a:pt x="0" y="8755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318" y="161467"/>
            <a:ext cx="17429751" cy="244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16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REGRESSION RESULTS: HOW DO SATISFACTION AND DEMOGRAPHICS PREDICT CUSTOMER SPENDING AND VALUE?</a:t>
            </a:r>
          </a:p>
          <a:p>
            <a:pPr algn="l">
              <a:lnSpc>
                <a:spcPts val="5040"/>
              </a:lnSpc>
            </a:pPr>
          </a:p>
          <a:p>
            <a:pPr algn="l" marL="0" indent="0" lvl="0">
              <a:lnSpc>
                <a:spcPts val="50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933298" y="1739441"/>
            <a:ext cx="8216683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MODEL 1 KEY FINDINGS (OLS)</a:t>
            </a:r>
          </a:p>
          <a:p>
            <a:pPr algn="l" marL="0" indent="0" lvl="0">
              <a:lnSpc>
                <a:spcPts val="29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933298" y="2035986"/>
            <a:ext cx="8877943" cy="333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Petrol satisfaction is the strongest spending driver (b = 0.291***) — each +1pt adds ~34% in spending</a:t>
            </a:r>
          </a:p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Program (0.169***) and grocery satisfaction (0.136***) are also positive and significant</a:t>
            </a:r>
          </a:p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FastFood satisfaction has a small negative effect (-0.028*) — likely channel substitution</a:t>
            </a:r>
          </a:p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Car owners spend 21% more (0.193***); longer tenure is associated with lower spending (-0.080***)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555135"/>
            <a:ext cx="8216683" cy="106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MODEL 2 &amp; 3 KEY FINDINGS (LOGISTIC)</a:t>
            </a:r>
          </a:p>
          <a:p>
            <a:pPr algn="l" marL="0" indent="0" lvl="0">
              <a:lnSpc>
                <a:spcPts val="2660"/>
              </a:lnSpc>
            </a:pPr>
          </a:p>
          <a:p>
            <a:pPr algn="l" marL="0" indent="0" lvl="0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33298" y="6018368"/>
            <a:ext cx="8877943" cy="37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Program satisfaction is the strongest predictor of high-value membership (OR = 1.34***)</a:t>
            </a:r>
          </a:p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Car owners are 41% more likely to be high-value customers (OR = 1.41***)</a:t>
            </a:r>
          </a:p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Credit card holders are less likely to be high-value (OR = 0.77**) — possibly multi-program spending</a:t>
            </a:r>
          </a:p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Program satisfaction dominates NPS advocacy (OR = 3.02***); female customers are 3.4x more likely to be Promoters (OR = 3.39***)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1890" y="1338592"/>
            <a:ext cx="8521408" cy="7609816"/>
          </a:xfrm>
          <a:custGeom>
            <a:avLst/>
            <a:gdLst/>
            <a:ahLst/>
            <a:cxnLst/>
            <a:rect r="r" b="b" t="t" l="l"/>
            <a:pathLst>
              <a:path h="7609816" w="8521408">
                <a:moveTo>
                  <a:pt x="0" y="0"/>
                </a:moveTo>
                <a:lnTo>
                  <a:pt x="8521408" y="0"/>
                </a:lnTo>
                <a:lnTo>
                  <a:pt x="8521408" y="7609816"/>
                </a:lnTo>
                <a:lnTo>
                  <a:pt x="0" y="760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318" y="345840"/>
            <a:ext cx="17429751" cy="237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15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FROM INSIGHT TO ACTION: THREE MANAGERIAL RECOMMENDATIONS</a:t>
            </a:r>
          </a:p>
          <a:p>
            <a:pPr algn="l">
              <a:lnSpc>
                <a:spcPts val="43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 marL="0" indent="0" lvl="0">
              <a:lnSpc>
                <a:spcPts val="50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733456" y="1228130"/>
            <a:ext cx="8216683" cy="106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PRIORITISE PETROL &amp; PROGRAM SATISFACTION</a:t>
            </a:r>
          </a:p>
          <a:p>
            <a:pPr algn="l" marL="0" indent="0" lvl="0">
              <a:lnSpc>
                <a:spcPts val="2660"/>
              </a:lnSpc>
            </a:pPr>
          </a:p>
          <a:p>
            <a:pPr algn="l" marL="0" indent="0" lvl="0">
              <a:lnSpc>
                <a:spcPts val="29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933298" y="1522176"/>
            <a:ext cx="8877943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Petrol satisfaction is the top spending driver (b = 0.291***) and p</a:t>
            </a: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rogram satisfaction governs both high-value membership and NPS advocacy. Improve petrol service quality to lift transaction volume, and strengthen the coalition's overall value proposition.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2115" y="4030740"/>
            <a:ext cx="9545885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10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TARGET CAR OWNERS AS A PRIORITY ACQUISITION SEGMENT</a:t>
            </a:r>
          </a:p>
          <a:p>
            <a:pPr algn="l">
              <a:lnSpc>
                <a:spcPts val="2660"/>
              </a:lnSpc>
            </a:pPr>
          </a:p>
          <a:p>
            <a:pPr algn="l" marL="0" indent="0" lvl="0">
              <a:lnSpc>
                <a:spcPts val="2660"/>
              </a:lnSpc>
            </a:pPr>
          </a:p>
          <a:p>
            <a:pPr algn="l" marL="0" indent="0" lvl="0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33298" y="4316649"/>
            <a:ext cx="8877943" cy="165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Car owners are 41% more likely to be high-value (OR = 1.41***) and spend 21% more. Use OwnCar = Y as a targeting criterion in recruitment campaigns, and consider bundled petrol-point offers to onboard new members.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42115" y="6721867"/>
            <a:ext cx="893006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 spc="210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ACTIVATE FEMALE PROMOTERS FOR LOW-COST GROWTH</a:t>
            </a:r>
          </a:p>
          <a:p>
            <a:pPr algn="l" marL="0" indent="0" lvl="0">
              <a:lnSpc>
                <a:spcPts val="29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933298" y="7019047"/>
            <a:ext cx="8877943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60"/>
              </a:lnSpc>
              <a:buFont typeface="Arial"/>
              <a:buChar char="•"/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Female customers are 3.4x more likely to be NPS Promoters (OR = 3.39***) — the largest single-variable effect in the study. Design female-targeted referral programmes to leverage word-of-mouth as a low-cost acquisition channel.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1890" y="9585325"/>
            <a:ext cx="17662179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</a:pPr>
            <a:r>
              <a:rPr lang="en-US" b="true" sz="1900" spc="190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SATISFIED CUSTOMERS DON'T JUST STAY, THEY RECRUIT. PROGRAM SATISFACTION (OR = 3.02) IS THE SINGLE MOST POWERFUL LEVER FOR TURNING CUSTOMERS INTO GROWTH ASSETS.</a:t>
            </a:r>
          </a:p>
          <a:p>
            <a:pPr algn="l" marL="0" indent="0" lvl="0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066434"/>
            <a:ext cx="18288000" cy="7090351"/>
            <a:chOff x="0" y="0"/>
            <a:chExt cx="4816593" cy="1867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867417"/>
            </a:xfrm>
            <a:custGeom>
              <a:avLst/>
              <a:gdLst/>
              <a:ahLst/>
              <a:cxnLst/>
              <a:rect r="r" b="b" t="t" l="l"/>
              <a:pathLst>
                <a:path h="186741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867417"/>
                  </a:lnTo>
                  <a:lnTo>
                    <a:pt x="0" y="1867417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915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38005" y="285249"/>
            <a:ext cx="11449995" cy="347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2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RQ3 CUSTOMER VALUE &amp; CHURN: </a:t>
            </a:r>
          </a:p>
          <a:p>
            <a:pPr algn="ctr">
              <a:lnSpc>
                <a:spcPts val="5600"/>
              </a:lnSpc>
            </a:pPr>
            <a:r>
              <a:rPr lang="en-US" b="true" sz="4000" spc="2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WHO TO KEEP AND WHERE TO ACT?</a:t>
            </a:r>
          </a:p>
          <a:p>
            <a:pPr algn="l">
              <a:lnSpc>
                <a:spcPts val="5180"/>
              </a:lnSpc>
            </a:pPr>
          </a:p>
          <a:p>
            <a:pPr algn="l" marL="0" indent="0" lvl="0">
              <a:lnSpc>
                <a:spcPts val="56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838005" y="4353058"/>
            <a:ext cx="11904857" cy="385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6"/>
              </a:lnSpc>
            </a:pPr>
            <a:r>
              <a:rPr lang="en-US" b="true" sz="3860" spc="386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• Not all customers contribute equally</a:t>
            </a:r>
          </a:p>
          <a:p>
            <a:pPr algn="l">
              <a:lnSpc>
                <a:spcPts val="6176"/>
              </a:lnSpc>
            </a:pPr>
            <a:r>
              <a:rPr lang="en-US" b="true" sz="3860" spc="386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  </a:t>
            </a:r>
          </a:p>
          <a:p>
            <a:pPr algn="l">
              <a:lnSpc>
                <a:spcPts val="6176"/>
              </a:lnSpc>
            </a:pPr>
            <a:r>
              <a:rPr lang="en-US" b="true" sz="3860" spc="386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• Retention budget is limited  </a:t>
            </a:r>
          </a:p>
          <a:p>
            <a:pPr algn="l">
              <a:lnSpc>
                <a:spcPts val="6176"/>
              </a:lnSpc>
            </a:pPr>
          </a:p>
          <a:p>
            <a:pPr algn="l" marL="0" indent="0" lvl="0">
              <a:lnSpc>
                <a:spcPts val="6176"/>
              </a:lnSpc>
            </a:pPr>
            <a:r>
              <a:rPr lang="en-US" b="true" sz="3860" spc="386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• Need to prioritise based on value + risk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03836" y="0"/>
            <a:ext cx="7141841" cy="10287000"/>
            <a:chOff x="0" y="0"/>
            <a:chExt cx="1106458" cy="1593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645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06458">
                  <a:moveTo>
                    <a:pt x="0" y="0"/>
                  </a:moveTo>
                  <a:lnTo>
                    <a:pt x="1106458" y="0"/>
                  </a:lnTo>
                  <a:lnTo>
                    <a:pt x="110645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86698" t="0" r="-6937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369194"/>
            <a:ext cx="18288000" cy="8917806"/>
            <a:chOff x="0" y="0"/>
            <a:chExt cx="4816593" cy="2348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348723"/>
            </a:xfrm>
            <a:custGeom>
              <a:avLst/>
              <a:gdLst/>
              <a:ahLst/>
              <a:cxnLst/>
              <a:rect r="r" b="b" t="t" l="l"/>
              <a:pathLst>
                <a:path h="234872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48723"/>
                  </a:lnTo>
                  <a:lnTo>
                    <a:pt x="0" y="234872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396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3287" y="925830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56224" y="789698"/>
            <a:ext cx="248490" cy="2484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31776" y="2128730"/>
            <a:ext cx="5704434" cy="4687802"/>
          </a:xfrm>
          <a:custGeom>
            <a:avLst/>
            <a:gdLst/>
            <a:ahLst/>
            <a:cxnLst/>
            <a:rect r="r" b="b" t="t" l="l"/>
            <a:pathLst>
              <a:path h="4687802" w="5704434">
                <a:moveTo>
                  <a:pt x="0" y="0"/>
                </a:moveTo>
                <a:lnTo>
                  <a:pt x="5704434" y="0"/>
                </a:lnTo>
                <a:lnTo>
                  <a:pt x="5704434" y="4687802"/>
                </a:lnTo>
                <a:lnTo>
                  <a:pt x="0" y="4687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22488" y="2128730"/>
            <a:ext cx="10182225" cy="4530051"/>
          </a:xfrm>
          <a:custGeom>
            <a:avLst/>
            <a:gdLst/>
            <a:ahLst/>
            <a:cxnLst/>
            <a:rect r="r" b="b" t="t" l="l"/>
            <a:pathLst>
              <a:path h="4530051" w="10182225">
                <a:moveTo>
                  <a:pt x="0" y="0"/>
                </a:moveTo>
                <a:lnTo>
                  <a:pt x="10182225" y="0"/>
                </a:lnTo>
                <a:lnTo>
                  <a:pt x="10182225" y="4530051"/>
                </a:lnTo>
                <a:lnTo>
                  <a:pt x="0" y="453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02134" y="7413941"/>
            <a:ext cx="12083732" cy="231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SEGMENT 1: HIGHEST CLV (~$753)  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SEGMENT 3: VERY LOW CLV (~$7.5)  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 spc="21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VALUE IS HIGHLY UNEVEN ACROSS CUSTOMERS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2401" y="279363"/>
            <a:ext cx="11311820" cy="141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 spc="2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5.1 CUSTOMER VALUE（CLV）</a:t>
            </a:r>
          </a:p>
          <a:p>
            <a:pPr algn="l" marL="0" indent="0" lvl="0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369194"/>
            <a:ext cx="18288000" cy="8917806"/>
            <a:chOff x="0" y="0"/>
            <a:chExt cx="4816593" cy="2348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348723"/>
            </a:xfrm>
            <a:custGeom>
              <a:avLst/>
              <a:gdLst/>
              <a:ahLst/>
              <a:cxnLst/>
              <a:rect r="r" b="b" t="t" l="l"/>
              <a:pathLst>
                <a:path h="234872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48723"/>
                  </a:lnTo>
                  <a:lnTo>
                    <a:pt x="0" y="234872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396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7562" y="948690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56224" y="789698"/>
            <a:ext cx="248490" cy="2484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98727" y="1435869"/>
            <a:ext cx="7091701" cy="6058237"/>
          </a:xfrm>
          <a:custGeom>
            <a:avLst/>
            <a:gdLst/>
            <a:ahLst/>
            <a:cxnLst/>
            <a:rect r="r" b="b" t="t" l="l"/>
            <a:pathLst>
              <a:path h="6058237" w="7091701">
                <a:moveTo>
                  <a:pt x="0" y="0"/>
                </a:moveTo>
                <a:lnTo>
                  <a:pt x="7091701" y="0"/>
                </a:lnTo>
                <a:lnTo>
                  <a:pt x="7091701" y="6058237"/>
                </a:lnTo>
                <a:lnTo>
                  <a:pt x="0" y="6058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8727" y="7525486"/>
            <a:ext cx="7091701" cy="1732814"/>
          </a:xfrm>
          <a:custGeom>
            <a:avLst/>
            <a:gdLst/>
            <a:ahLst/>
            <a:cxnLst/>
            <a:rect r="r" b="b" t="t" l="l"/>
            <a:pathLst>
              <a:path h="1732814" w="7091701">
                <a:moveTo>
                  <a:pt x="0" y="0"/>
                </a:moveTo>
                <a:lnTo>
                  <a:pt x="7091701" y="0"/>
                </a:lnTo>
                <a:lnTo>
                  <a:pt x="7091701" y="1732814"/>
                </a:lnTo>
                <a:lnTo>
                  <a:pt x="0" y="173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88558" y="4017077"/>
            <a:ext cx="12083732" cy="357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b="true" sz="2899" spc="28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OVERALL CHURN: ~24%  </a:t>
            </a:r>
          </a:p>
          <a:p>
            <a:pPr algn="l">
              <a:lnSpc>
                <a:spcPts val="4059"/>
              </a:lnSpc>
            </a:pP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b="true" sz="2899" spc="28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 </a:t>
            </a:r>
            <a:r>
              <a:rPr lang="en-US" b="true" sz="2899" spc="28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SEGMENT 2: HIGHEST CHURN RISK  </a:t>
            </a:r>
          </a:p>
          <a:p>
            <a:pPr algn="l">
              <a:lnSpc>
                <a:spcPts val="4059"/>
              </a:lnSpc>
            </a:pP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b="true" sz="2899" spc="28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 BEH</a:t>
            </a:r>
            <a:r>
              <a:rPr lang="en-US" b="true" sz="2899" spc="28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AVIOUR STRONGLY PREDICTS CHURN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2401" y="50233"/>
            <a:ext cx="14675723" cy="208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b="true" sz="3900" spc="19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5.2 CHURN RISK   </a:t>
            </a:r>
          </a:p>
          <a:p>
            <a:pPr algn="l">
              <a:lnSpc>
                <a:spcPts val="5460"/>
              </a:lnSpc>
            </a:pPr>
            <a:r>
              <a:rPr lang="en-US" b="true" sz="3900" spc="195">
                <a:solidFill>
                  <a:srgbClr val="39261D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CHURN RISK IS BEHAVIOUR-DRIVEN</a:t>
            </a:r>
          </a:p>
          <a:p>
            <a:pPr algn="l" marL="0" indent="0" lvl="0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49988"/>
            <a:ext cx="18288000" cy="7398624"/>
            <a:chOff x="0" y="0"/>
            <a:chExt cx="4816593" cy="1948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948609"/>
            </a:xfrm>
            <a:custGeom>
              <a:avLst/>
              <a:gdLst/>
              <a:ahLst/>
              <a:cxnLst/>
              <a:rect r="r" b="b" t="t" l="l"/>
              <a:pathLst>
                <a:path h="19486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48609"/>
                  </a:lnTo>
                  <a:lnTo>
                    <a:pt x="0" y="1948609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996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804" y="1530023"/>
            <a:ext cx="5832302" cy="5306870"/>
          </a:xfrm>
          <a:custGeom>
            <a:avLst/>
            <a:gdLst/>
            <a:ahLst/>
            <a:cxnLst/>
            <a:rect r="r" b="b" t="t" l="l"/>
            <a:pathLst>
              <a:path h="5306870" w="5832302">
                <a:moveTo>
                  <a:pt x="0" y="0"/>
                </a:moveTo>
                <a:lnTo>
                  <a:pt x="5832302" y="0"/>
                </a:lnTo>
                <a:lnTo>
                  <a:pt x="5832302" y="5306870"/>
                </a:lnTo>
                <a:lnTo>
                  <a:pt x="0" y="5306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79128" y="1643207"/>
            <a:ext cx="11308872" cy="307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 spc="12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HIGH CLV + HIGH RISK → PRIORITY</a:t>
            </a:r>
          </a:p>
          <a:p>
            <a:pPr algn="l">
              <a:lnSpc>
                <a:spcPts val="3500"/>
              </a:lnSpc>
            </a:pPr>
            <a:r>
              <a:rPr lang="en-US" b="true" sz="2500" spc="12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 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 spc="12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HIGH CLV + LOW RISK → PROTECT  </a:t>
            </a:r>
          </a:p>
          <a:p>
            <a:pPr algn="l">
              <a:lnSpc>
                <a:spcPts val="3500"/>
              </a:lnSpc>
            </a:pP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 spc="12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LOW CLV + LOW RISK → GROW  </a:t>
            </a:r>
          </a:p>
          <a:p>
            <a:pPr algn="l">
              <a:lnSpc>
                <a:spcPts val="3500"/>
              </a:lnSpc>
            </a:pP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 spc="12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LOW CLV + HIGH RISK → LOW PRIORITY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7861" y="5501808"/>
            <a:ext cx="8834775" cy="126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</a:pPr>
            <a:r>
              <a:rPr lang="en-US" b="true" sz="3200" spc="320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Only 24 customers are high-value &amp; high-risk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-49847"/>
            <a:ext cx="14675723" cy="208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b="true" sz="3900" spc="19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5.2 CHURN RISK   </a:t>
            </a:r>
          </a:p>
          <a:p>
            <a:pPr algn="l">
              <a:lnSpc>
                <a:spcPts val="5460"/>
              </a:lnSpc>
            </a:pPr>
            <a:r>
              <a:rPr lang="en-US" b="true" sz="3900" spc="195">
                <a:solidFill>
                  <a:srgbClr val="39261D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WHERE SHOULD JENNIFER FOCUS?</a:t>
            </a:r>
          </a:p>
          <a:p>
            <a:pPr algn="l" marL="0" indent="0" lvl="0">
              <a:lnSpc>
                <a:spcPts val="56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110870" y="7249160"/>
            <a:ext cx="10950139" cy="256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 spc="320" b="true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• CLV based o</a:t>
            </a:r>
            <a:r>
              <a:rPr lang="en-US" b="true" sz="3200" spc="320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n assumptions (10% margin, discount)  </a:t>
            </a:r>
          </a:p>
          <a:p>
            <a:pPr algn="l">
              <a:lnSpc>
                <a:spcPts val="5120"/>
              </a:lnSpc>
            </a:pPr>
            <a:r>
              <a:rPr lang="en-US" b="true" sz="3200" spc="320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• Model uses one-year data  </a:t>
            </a:r>
          </a:p>
          <a:p>
            <a:pPr algn="l" marL="0" indent="0" lvl="0">
              <a:lnSpc>
                <a:spcPts val="5120"/>
              </a:lnSpc>
            </a:pPr>
            <a:r>
              <a:rPr lang="en-US" b="true" sz="3200" spc="320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• Near-perfect separation affects generalisability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804" y="8036100"/>
            <a:ext cx="11311820" cy="141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 spc="2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5.3 LIMITATION</a:t>
            </a:r>
          </a:p>
          <a:p>
            <a:pPr algn="l" marL="0" indent="0" lvl="0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888" y="8668933"/>
            <a:ext cx="533846" cy="589367"/>
          </a:xfrm>
          <a:custGeom>
            <a:avLst/>
            <a:gdLst/>
            <a:ahLst/>
            <a:cxnLst/>
            <a:rect r="r" b="b" t="t" l="l"/>
            <a:pathLst>
              <a:path h="589367" w="533846">
                <a:moveTo>
                  <a:pt x="0" y="0"/>
                </a:moveTo>
                <a:lnTo>
                  <a:pt x="533846" y="0"/>
                </a:lnTo>
                <a:lnTo>
                  <a:pt x="533846" y="589367"/>
                </a:lnTo>
                <a:lnTo>
                  <a:pt x="0" y="58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882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825328" y="0"/>
            <a:ext cx="10286993" cy="10287000"/>
            <a:chOff x="0" y="0"/>
            <a:chExt cx="270933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1">
                  <a:moveTo>
                    <a:pt x="0" y="0"/>
                  </a:moveTo>
                  <a:lnTo>
                    <a:pt x="2709331" y="0"/>
                  </a:lnTo>
                  <a:lnTo>
                    <a:pt x="270933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0933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2583" y="3190499"/>
            <a:ext cx="693756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MANAGERIAL RECOMMENDATIONS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32640" y="338700"/>
            <a:ext cx="8178170" cy="1007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Managerial Recommendations</a:t>
            </a:r>
          </a:p>
          <a:p>
            <a:pPr algn="l">
              <a:lnSpc>
                <a:spcPts val="3462"/>
              </a:lnSpc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Retain High-Value At-Risk Customers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personalised rewards and targeted engagement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Prioritise retention investment by CLV and churn risk</a:t>
            </a:r>
          </a:p>
          <a:p>
            <a:pPr algn="l">
              <a:lnSpc>
                <a:spcPts val="3462"/>
              </a:lnSpc>
            </a:pPr>
          </a:p>
          <a:p>
            <a:pPr algn="l">
              <a:lnSpc>
                <a:spcPts val="3462"/>
              </a:lnSpc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Under-Engaged Customers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Apply cross-merchant promotions and tailored incentives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 satisfaction to strengthen loyalty</a:t>
            </a:r>
          </a:p>
          <a:p>
            <a:pPr algn="l">
              <a:lnSpc>
                <a:spcPts val="3462"/>
              </a:lnSpc>
            </a:pPr>
          </a:p>
          <a:p>
            <a:pPr algn="l">
              <a:lnSpc>
                <a:spcPts val="3462"/>
              </a:lnSpc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Limit Investment in Dormant Customers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low-cost reactivation only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Focus resources on higher-return segments</a:t>
            </a:r>
          </a:p>
          <a:p>
            <a:pPr algn="l">
              <a:lnSpc>
                <a:spcPts val="3462"/>
              </a:lnSpc>
            </a:pPr>
          </a:p>
          <a:p>
            <a:pPr algn="l">
              <a:lnSpc>
                <a:spcPts val="3462"/>
              </a:lnSpc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Embed Predictive Analytics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Update churn models regularly</a:t>
            </a:r>
          </a:p>
          <a:p>
            <a:pPr algn="l" marL="467158" indent="-233579" lvl="1">
              <a:lnSpc>
                <a:spcPts val="3462"/>
              </a:lnSpc>
              <a:buFont typeface="Arial"/>
              <a:buChar char="•"/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CLV and risk-based targeting</a:t>
            </a:r>
          </a:p>
          <a:p>
            <a:pPr algn="l">
              <a:lnSpc>
                <a:spcPts val="3462"/>
              </a:lnSpc>
            </a:pPr>
          </a:p>
          <a:p>
            <a:pPr algn="l">
              <a:lnSpc>
                <a:spcPts val="3462"/>
              </a:lnSpc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Strategic Implication</a:t>
            </a:r>
          </a:p>
          <a:p>
            <a:pPr algn="l" marL="0" indent="0" lvl="0">
              <a:lnSpc>
                <a:spcPts val="3462"/>
              </a:lnSpc>
            </a:pPr>
            <a:r>
              <a:rPr lang="en-US" sz="2163" spc="21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Shift from uniform retention spending to value-based resource allocation.</a:t>
            </a:r>
          </a:p>
          <a:p>
            <a:pPr algn="l" marL="0" indent="0" lvl="0">
              <a:lnSpc>
                <a:spcPts val="3462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888" y="8668933"/>
            <a:ext cx="533846" cy="589367"/>
          </a:xfrm>
          <a:custGeom>
            <a:avLst/>
            <a:gdLst/>
            <a:ahLst/>
            <a:cxnLst/>
            <a:rect r="r" b="b" t="t" l="l"/>
            <a:pathLst>
              <a:path h="589367" w="533846">
                <a:moveTo>
                  <a:pt x="0" y="0"/>
                </a:moveTo>
                <a:lnTo>
                  <a:pt x="533846" y="0"/>
                </a:lnTo>
                <a:lnTo>
                  <a:pt x="533846" y="589367"/>
                </a:lnTo>
                <a:lnTo>
                  <a:pt x="0" y="58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882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825328" y="0"/>
            <a:ext cx="10286993" cy="10287000"/>
            <a:chOff x="0" y="0"/>
            <a:chExt cx="270933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1">
                  <a:moveTo>
                    <a:pt x="0" y="0"/>
                  </a:moveTo>
                  <a:lnTo>
                    <a:pt x="2709331" y="0"/>
                  </a:lnTo>
                  <a:lnTo>
                    <a:pt x="270933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0933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84503" y="4342576"/>
            <a:ext cx="693756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2320" y="1603775"/>
            <a:ext cx="9504881" cy="661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Key Findings</a:t>
            </a:r>
          </a:p>
          <a:p>
            <a:pPr algn="l" marL="542943" indent="-271471" lvl="1">
              <a:lnSpc>
                <a:spcPts val="4023"/>
              </a:lnSpc>
              <a:buFont typeface="Arial"/>
              <a:buChar char="•"/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Thr</a:t>
            </a: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ee distinct customer segments were identified</a:t>
            </a:r>
          </a:p>
          <a:p>
            <a:pPr algn="l" marL="542943" indent="-271471" lvl="1">
              <a:lnSpc>
                <a:spcPts val="4023"/>
              </a:lnSpc>
              <a:buFont typeface="Arial"/>
              <a:buChar char="•"/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Customer value and churn risk differ substantially across segments</a:t>
            </a:r>
          </a:p>
          <a:p>
            <a:pPr algn="l" marL="542943" indent="-271471" lvl="1">
              <a:lnSpc>
                <a:spcPts val="4023"/>
              </a:lnSpc>
              <a:buFont typeface="Arial"/>
              <a:buChar char="•"/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atisfaction is a key driver of spending, loyalty and advocacy</a:t>
            </a:r>
          </a:p>
          <a:p>
            <a:pPr algn="l">
              <a:lnSpc>
                <a:spcPts val="4023"/>
              </a:lnSpc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</a:t>
            </a: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agerial Implications</a:t>
            </a:r>
          </a:p>
          <a:p>
            <a:pPr algn="l" marL="542943" indent="-271471" lvl="1">
              <a:lnSpc>
                <a:spcPts val="4023"/>
              </a:lnSpc>
              <a:buFont typeface="Arial"/>
              <a:buChar char="•"/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Prioritise high-value customers at risk of churn</a:t>
            </a:r>
          </a:p>
          <a:p>
            <a:pPr algn="l" marL="542943" indent="-271471" lvl="1">
              <a:lnSpc>
                <a:spcPts val="4023"/>
              </a:lnSpc>
              <a:buFont typeface="Arial"/>
              <a:buChar char="•"/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lower-cost activation for under-engaged customers</a:t>
            </a:r>
          </a:p>
          <a:p>
            <a:pPr algn="l" marL="542943" indent="-271471" lvl="1">
              <a:lnSpc>
                <a:spcPts val="4023"/>
              </a:lnSpc>
              <a:buFont typeface="Arial"/>
              <a:buChar char="•"/>
            </a:pPr>
            <a:r>
              <a:rPr lang="en-US" sz="2514" spc="25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Limit intensive investment in low-value dormant customers</a:t>
            </a:r>
          </a:p>
          <a:p>
            <a:pPr algn="l" marL="0" indent="0" lvl="0">
              <a:lnSpc>
                <a:spcPts val="402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0882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01623" y="-47625"/>
            <a:ext cx="693756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623" y="1067220"/>
            <a:ext cx="16219760" cy="647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Ali, N. and Shabn, O.S. (2024) ‘Custome</a:t>
            </a: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lifetime value (CLV) insights for strategic marketing success and its impact on organizational financial performance’, Cogent Business &amp; Management, 11(1), 2361321. doi:10.1080/23311975.2024.2361321.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Curiskis, S., Dong, X., Jiang, F. and Scarr, M. (2023) ‘A novel approach to predicting customer lifetime value in B2B SaaS companies’, Journal of Marketing Analytics, 11, pp. 587–601. doi:10.1057/s41270-023-00234-6.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Gayam, S.R. (2022) ‘Enh</a:t>
            </a: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ancing customer retention in e-commerce with AI: Techniques for predictive analytics, personalization, and loyalty programs’, Australian Journal of Machi</a:t>
            </a: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 Le</a:t>
            </a: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arning Research &amp; Applications, 2(1), pp. 45–61. Available at: </a:t>
            </a:r>
            <a:r>
              <a:rPr lang="en-US" sz="2114" spc="211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2" tooltip="https://www.sydneyacademics.com/index.php/ajmlra/article/view/121"/>
              </a:rPr>
              <a:t>https://www.sydneyacademics.com/index.php/ajmlra/article/view/121</a:t>
            </a: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(Accessed: 18 April 2026).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114" spc="21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Maldonado, S., Ríos, J., Mora, E. and Castillo, P. (2025) ‘A predictive analytics approach to improve telecom’s customer retention’, Frontiers in Artificial Intelligence, 8, 1600357. doi:10.3389/frai.2025.1600357.</a:t>
            </a:r>
          </a:p>
          <a:p>
            <a:pPr algn="l" marL="0" indent="0" lvl="0">
              <a:lnSpc>
                <a:spcPts val="402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4078" y="1326430"/>
            <a:ext cx="21203378" cy="7634140"/>
            <a:chOff x="0" y="0"/>
            <a:chExt cx="1128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8752" cy="406400"/>
            </a:xfrm>
            <a:custGeom>
              <a:avLst/>
              <a:gdLst/>
              <a:ahLst/>
              <a:cxnLst/>
              <a:rect r="r" b="b" t="t" l="l"/>
              <a:pathLst>
                <a:path h="406400" w="1128752">
                  <a:moveTo>
                    <a:pt x="925552" y="0"/>
                  </a:moveTo>
                  <a:cubicBezTo>
                    <a:pt x="1037776" y="0"/>
                    <a:pt x="1128752" y="90976"/>
                    <a:pt x="1128752" y="203200"/>
                  </a:cubicBezTo>
                  <a:cubicBezTo>
                    <a:pt x="1128752" y="315424"/>
                    <a:pt x="1037776" y="406400"/>
                    <a:pt x="925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28752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58126" y="3970422"/>
            <a:ext cx="12371749" cy="206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8"/>
              </a:lnSpc>
            </a:pPr>
            <a:r>
              <a:rPr lang="en-US" b="true" sz="11598" spc="57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9009810"/>
            <a:ext cx="248490" cy="2484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877077" y="2550163"/>
            <a:ext cx="533846" cy="589367"/>
          </a:xfrm>
          <a:custGeom>
            <a:avLst/>
            <a:gdLst/>
            <a:ahLst/>
            <a:cxnLst/>
            <a:rect r="r" b="b" t="t" l="l"/>
            <a:pathLst>
              <a:path h="589367" w="533846">
                <a:moveTo>
                  <a:pt x="0" y="0"/>
                </a:moveTo>
                <a:lnTo>
                  <a:pt x="533846" y="0"/>
                </a:lnTo>
                <a:lnTo>
                  <a:pt x="533846" y="589367"/>
                </a:lnTo>
                <a:lnTo>
                  <a:pt x="0" y="58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DAHDx1jNJRQ</dc:identifier>
  <dcterms:modified xsi:type="dcterms:W3CDTF">2011-08-01T06:04:30Z</dcterms:modified>
  <cp:revision>1</cp:revision>
  <dc:title>Research Plan for FGP Customer Loyalty Program(Group3))</dc:title>
</cp:coreProperties>
</file>